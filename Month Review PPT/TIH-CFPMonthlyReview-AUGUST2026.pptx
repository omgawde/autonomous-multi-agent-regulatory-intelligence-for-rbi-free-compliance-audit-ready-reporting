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9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9222"/>
    <a:srgbClr val="FF0000"/>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653"/>
  </p:normalViewPr>
  <p:slideViewPr>
    <p:cSldViewPr snapToGrid="0">
      <p:cViewPr>
        <p:scale>
          <a:sx n="100" d="100"/>
          <a:sy n="100" d="100"/>
        </p:scale>
        <p:origin x="348"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E48DF5-B245-4D2C-AD81-B412E63B0E60}" type="datetimeFigureOut">
              <a:rPr lang="en-IN" smtClean="0"/>
              <a:t>01-09-2026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6530B-8C42-4E09-8DB6-CCE51DF0BE79}" type="slidenum">
              <a:rPr lang="en-IN" smtClean="0"/>
              <a:t>‹#›</a:t>
            </a:fld>
            <a:endParaRPr lang="en-IN"/>
          </a:p>
        </p:txBody>
      </p:sp>
    </p:spTree>
    <p:extLst>
      <p:ext uri="{BB962C8B-B14F-4D97-AF65-F5344CB8AC3E}">
        <p14:creationId xmlns:p14="http://schemas.microsoft.com/office/powerpoint/2010/main" val="2759341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a:extLst>
            <a:ext uri="{FF2B5EF4-FFF2-40B4-BE49-F238E27FC236}">
              <a16:creationId xmlns:a16="http://schemas.microsoft.com/office/drawing/2014/main" id="{074D1532-29CB-2100-1A32-5724D2DF3CCA}"/>
            </a:ext>
          </a:extLst>
        </p:cNvPr>
        <p:cNvGrpSpPr/>
        <p:nvPr/>
      </p:nvGrpSpPr>
      <p:grpSpPr>
        <a:xfrm>
          <a:off x="0" y="0"/>
          <a:ext cx="0" cy="0"/>
          <a:chOff x="0" y="0"/>
          <a:chExt cx="0" cy="0"/>
        </a:xfrm>
      </p:grpSpPr>
      <p:sp>
        <p:nvSpPr>
          <p:cNvPr id="458" name="Google Shape;458;g36bc22d55b3_1_17:notes">
            <a:extLst>
              <a:ext uri="{FF2B5EF4-FFF2-40B4-BE49-F238E27FC236}">
                <a16:creationId xmlns:a16="http://schemas.microsoft.com/office/drawing/2014/main" id="{54B63782-63EE-B35D-350F-5D0613F797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9" name="Google Shape;459;g36bc22d55b3_1_17:notes">
            <a:extLst>
              <a:ext uri="{FF2B5EF4-FFF2-40B4-BE49-F238E27FC236}">
                <a16:creationId xmlns:a16="http://schemas.microsoft.com/office/drawing/2014/main" id="{4A85BB75-C374-613F-90FC-0183D922EC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GB"/>
          </a:p>
        </p:txBody>
      </p:sp>
    </p:spTree>
    <p:extLst>
      <p:ext uri="{BB962C8B-B14F-4D97-AF65-F5344CB8AC3E}">
        <p14:creationId xmlns:p14="http://schemas.microsoft.com/office/powerpoint/2010/main" val="1239028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26FE-78FB-68F7-BB27-71ED9C15AA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783A7B-8A6C-899E-8E9E-4349702C17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70C1D1-FBB2-E4AE-35FD-3E8296113DE9}"/>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5" name="Footer Placeholder 4">
            <a:extLst>
              <a:ext uri="{FF2B5EF4-FFF2-40B4-BE49-F238E27FC236}">
                <a16:creationId xmlns:a16="http://schemas.microsoft.com/office/drawing/2014/main" id="{A48D9931-F016-1043-D9CC-47A15B5765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793EDB-F1D0-BEEC-938C-6F8794586073}"/>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79402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E057A-EE63-C8C6-891C-960B895622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4984F8-D162-B89D-D629-742CC04BA7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B84BBE-1CDC-6EC1-3827-B422B0EE07BF}"/>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5" name="Footer Placeholder 4">
            <a:extLst>
              <a:ext uri="{FF2B5EF4-FFF2-40B4-BE49-F238E27FC236}">
                <a16:creationId xmlns:a16="http://schemas.microsoft.com/office/drawing/2014/main" id="{C911C923-12F1-D37A-32A6-34CCD5105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382B86-A2C2-AD20-BD82-16DA9ED9E0F1}"/>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92441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D291-6D81-60B5-86C9-B2E58DD185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55B0B7-11C9-243A-8FD5-58331E8EE9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D4B6A-224F-8C90-4074-1D5DB7A7EEB7}"/>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5" name="Footer Placeholder 4">
            <a:extLst>
              <a:ext uri="{FF2B5EF4-FFF2-40B4-BE49-F238E27FC236}">
                <a16:creationId xmlns:a16="http://schemas.microsoft.com/office/drawing/2014/main" id="{3E3410F0-55A3-5004-E5C5-B48303A14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2499B7-41A4-B1A7-B1EF-9A63621C7D1D}"/>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4021510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5688-A7C9-40C9-6EE2-DB0E29D718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6D07DF-F37A-3214-9822-7CE33E9E6D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7FC265-52E8-849D-4476-A24756CF2D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794CD5-2370-97FB-5C50-76CDC3CC5493}"/>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6" name="Footer Placeholder 5">
            <a:extLst>
              <a:ext uri="{FF2B5EF4-FFF2-40B4-BE49-F238E27FC236}">
                <a16:creationId xmlns:a16="http://schemas.microsoft.com/office/drawing/2014/main" id="{AD677205-C41E-F163-7D1E-36EF804752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105F1D-604D-F829-4351-C16A030A70B7}"/>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645759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0A5C1-1C93-5510-5258-25ED4C74B4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E2FBC5-D3A9-62F6-E5F4-927192795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77E751-E329-529B-9FC7-DF90563EF6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5CCF90-5BA3-8FE8-C097-03C8A3274C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CDA40E-413D-6ED5-A48E-8CFB7C1E84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4960E4-B7E1-104F-53FD-1BFEC002393D}"/>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8" name="Footer Placeholder 7">
            <a:extLst>
              <a:ext uri="{FF2B5EF4-FFF2-40B4-BE49-F238E27FC236}">
                <a16:creationId xmlns:a16="http://schemas.microsoft.com/office/drawing/2014/main" id="{1E4EC1A5-8345-79BA-C913-5BB94F1D62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500CEC-D903-5325-8312-89B469A4C290}"/>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099972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3804-4587-EF06-3EAC-5B95150D92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1B59BD-5E60-6FEF-42E6-3A1750FADBFF}"/>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4" name="Footer Placeholder 3">
            <a:extLst>
              <a:ext uri="{FF2B5EF4-FFF2-40B4-BE49-F238E27FC236}">
                <a16:creationId xmlns:a16="http://schemas.microsoft.com/office/drawing/2014/main" id="{F98E39D8-8E41-BC4D-CD90-EF3F68EF5F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70923A-7A18-91C2-0573-9448AACB85C4}"/>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806940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235EE2-75F3-7675-397C-2ECFAE7CE8F1}"/>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3" name="Footer Placeholder 2">
            <a:extLst>
              <a:ext uri="{FF2B5EF4-FFF2-40B4-BE49-F238E27FC236}">
                <a16:creationId xmlns:a16="http://schemas.microsoft.com/office/drawing/2014/main" id="{420568D1-F5E7-466D-C0D2-1CC8BCBFB7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539D1C-2C5B-52B5-5C58-7B759A0960BC}"/>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016924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08DE9-BDD7-4FEF-21FF-C39EC2DF1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4AF8B9-1E82-7C84-0D7A-6EB41ED396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4AF78D-754B-CC4F-C151-7A0975FFA5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44CA3-9A5E-BD45-3767-1C605041F896}"/>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6" name="Footer Placeholder 5">
            <a:extLst>
              <a:ext uri="{FF2B5EF4-FFF2-40B4-BE49-F238E27FC236}">
                <a16:creationId xmlns:a16="http://schemas.microsoft.com/office/drawing/2014/main" id="{EDE2A7F6-8CB8-988C-CB23-416D5B24C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96C537-9C0D-1130-CBBB-9B7AEEA2B990}"/>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308848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75356-25F5-DDCB-5AAC-FBC7A3E6C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159FBE-EBE8-0671-359E-6708911177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A2DBD6-37A5-91E0-CA2E-79364E5B1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7073A-D375-55CC-33E0-83BB1EBF4C31}"/>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6" name="Footer Placeholder 5">
            <a:extLst>
              <a:ext uri="{FF2B5EF4-FFF2-40B4-BE49-F238E27FC236}">
                <a16:creationId xmlns:a16="http://schemas.microsoft.com/office/drawing/2014/main" id="{590B2974-4BE5-4243-54D1-04F5F0D75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DB7D87-3646-60B9-8EEB-4CAEB3E9857D}"/>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0565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6DB7-CB29-A2E1-614B-31D3AC17B2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AA2054-B9E3-F53F-2762-9112315367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A512DD-B468-E166-8012-2291BF4B08E5}"/>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5" name="Footer Placeholder 4">
            <a:extLst>
              <a:ext uri="{FF2B5EF4-FFF2-40B4-BE49-F238E27FC236}">
                <a16:creationId xmlns:a16="http://schemas.microsoft.com/office/drawing/2014/main" id="{2A0DAEAA-1006-9903-AAB9-73F7AD528F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3DB16-BFD1-4F6A-E16A-46DF33531F94}"/>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692104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5A514-D799-9AAF-D6A5-3F39AA7360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E31825-2684-77D4-C1F3-9DB63C3636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1034F9-2CB7-8B96-E47F-47C03D472086}"/>
              </a:ext>
            </a:extLst>
          </p:cNvPr>
          <p:cNvSpPr>
            <a:spLocks noGrp="1"/>
          </p:cNvSpPr>
          <p:nvPr>
            <p:ph type="dt" sz="half" idx="10"/>
          </p:nvPr>
        </p:nvSpPr>
        <p:spPr/>
        <p:txBody>
          <a:bodyPr/>
          <a:lstStyle/>
          <a:p>
            <a:fld id="{26680183-0F1C-4203-ABFD-88B7EF358E90}" type="datetimeFigureOut">
              <a:rPr lang="en-IN" smtClean="0"/>
              <a:t>01-09-2026</a:t>
            </a:fld>
            <a:endParaRPr lang="en-IN"/>
          </a:p>
        </p:txBody>
      </p:sp>
      <p:sp>
        <p:nvSpPr>
          <p:cNvPr id="5" name="Footer Placeholder 4">
            <a:extLst>
              <a:ext uri="{FF2B5EF4-FFF2-40B4-BE49-F238E27FC236}">
                <a16:creationId xmlns:a16="http://schemas.microsoft.com/office/drawing/2014/main" id="{270C02E6-9099-E46A-EFFA-1FBC1113D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28B0C1-C73F-EEB7-CCF5-B4291E231048}"/>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1086991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82"/>
        <p:cNvGrpSpPr/>
        <p:nvPr/>
      </p:nvGrpSpPr>
      <p:grpSpPr>
        <a:xfrm>
          <a:off x="0" y="0"/>
          <a:ext cx="0" cy="0"/>
          <a:chOff x="0" y="0"/>
          <a:chExt cx="0" cy="0"/>
        </a:xfrm>
      </p:grpSpPr>
      <p:sp>
        <p:nvSpPr>
          <p:cNvPr id="183" name="Google Shape;183;p17"/>
          <p:cNvSpPr/>
          <p:nvPr/>
        </p:nvSpPr>
        <p:spPr>
          <a:xfrm>
            <a:off x="12638620" y="690565"/>
            <a:ext cx="92389" cy="415444"/>
          </a:xfrm>
          <a:prstGeom prst="rect">
            <a:avLst/>
          </a:prstGeom>
          <a:noFill/>
          <a:ln>
            <a:noFill/>
          </a:ln>
        </p:spPr>
        <p:txBody>
          <a:bodyPr spcFirstLastPara="1" wrap="square" lIns="45700" tIns="22833" rIns="45700" bIns="22833"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184" name="Google Shape;184;p17"/>
          <p:cNvSpPr txBox="1">
            <a:spLocks noGrp="1"/>
          </p:cNvSpPr>
          <p:nvPr>
            <p:ph type="body" idx="1"/>
          </p:nvPr>
        </p:nvSpPr>
        <p:spPr>
          <a:xfrm>
            <a:off x="438151" y="960439"/>
            <a:ext cx="10671175" cy="4854575"/>
          </a:xfrm>
          <a:prstGeom prst="rect">
            <a:avLst/>
          </a:prstGeom>
          <a:noFill/>
          <a:ln>
            <a:noFill/>
          </a:ln>
        </p:spPr>
        <p:txBody>
          <a:bodyPr spcFirstLastPara="1" wrap="square" lIns="91425" tIns="45700" rIns="91425" bIns="45700" anchor="t" anchorCtr="0">
            <a:noAutofit/>
          </a:bodyPr>
          <a:lstStyle>
            <a:lvl1pPr marL="609585" marR="0" lvl="0"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1pPr>
            <a:lvl2pPr marL="1219170" marR="0" lvl="1"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2pPr>
            <a:lvl3pPr marL="1828754" marR="0" lvl="2"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3pPr>
            <a:lvl4pPr marL="2438339" marR="0" lvl="3"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4pPr>
            <a:lvl5pPr marL="3047924" marR="0" lvl="4"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5pPr>
            <a:lvl6pPr marL="3657509" marR="0" lvl="5"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L="4267093" marR="0" lvl="6"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L="4876678" marR="0" lvl="7"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L="5486263" marR="0" lvl="8"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sp>
        <p:nvSpPr>
          <p:cNvPr id="185" name="Google Shape;185;p17"/>
          <p:cNvSpPr txBox="1">
            <a:spLocks noGrp="1"/>
          </p:cNvSpPr>
          <p:nvPr>
            <p:ph type="title"/>
          </p:nvPr>
        </p:nvSpPr>
        <p:spPr>
          <a:xfrm>
            <a:off x="1076915" y="98171"/>
            <a:ext cx="10104400" cy="483148"/>
          </a:xfrm>
          <a:prstGeom prst="rect">
            <a:avLst/>
          </a:prstGeom>
          <a:noFill/>
          <a:ln>
            <a:noFill/>
          </a:ln>
        </p:spPr>
        <p:txBody>
          <a:bodyPr spcFirstLastPara="1" wrap="square" lIns="121900" tIns="60950" rIns="121900" bIns="60950" anchor="ctr" anchorCtr="0">
            <a:noAutofit/>
          </a:bodyPr>
          <a:lstStyle>
            <a:lvl1pPr marR="0" lvl="0" algn="l" rtl="0">
              <a:lnSpc>
                <a:spcPct val="100000"/>
              </a:lnSpc>
              <a:spcBef>
                <a:spcPts val="0"/>
              </a:spcBef>
              <a:spcAft>
                <a:spcPts val="0"/>
              </a:spcAft>
              <a:buClr>
                <a:srgbClr val="000000"/>
              </a:buClr>
              <a:buSzPts val="1400"/>
              <a:buFont typeface="Arial"/>
              <a:buNone/>
              <a:defRPr sz="3733" b="1" i="0" u="none" strike="noStrike" cap="none">
                <a:solidFill>
                  <a:srgbClr val="F59222"/>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859610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A3C0C-7400-CC95-E0D4-9F95CA7B5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5E6652-08BF-AC52-B867-5DFA87CE12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1B61DA-AFE2-8C7E-FBE9-77CD2BD740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680183-0F1C-4203-ABFD-88B7EF358E90}" type="datetimeFigureOut">
              <a:rPr lang="en-IN" smtClean="0"/>
              <a:t>01-09-2026</a:t>
            </a:fld>
            <a:endParaRPr lang="en-IN"/>
          </a:p>
        </p:txBody>
      </p:sp>
      <p:sp>
        <p:nvSpPr>
          <p:cNvPr id="5" name="Footer Placeholder 4">
            <a:extLst>
              <a:ext uri="{FF2B5EF4-FFF2-40B4-BE49-F238E27FC236}">
                <a16:creationId xmlns:a16="http://schemas.microsoft.com/office/drawing/2014/main" id="{24282C21-95D7-1A8D-C398-A44E738E58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C0B9DC2-CB8C-9F61-C3CA-A4171B8C70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B64034-CE3F-401B-808B-96FFEA73BA1A}" type="slidenum">
              <a:rPr lang="en-IN" smtClean="0"/>
              <a:t>‹#›</a:t>
            </a:fld>
            <a:endParaRPr lang="en-IN"/>
          </a:p>
        </p:txBody>
      </p:sp>
      <p:pic>
        <p:nvPicPr>
          <p:cNvPr id="7" name="Picture 6" descr="A blue and orange logo&#10;&#10;AI-generated content may be incorrect.">
            <a:extLst>
              <a:ext uri="{FF2B5EF4-FFF2-40B4-BE49-F238E27FC236}">
                <a16:creationId xmlns:a16="http://schemas.microsoft.com/office/drawing/2014/main" id="{FD1294E3-97F2-B2FD-B4E9-0D4AE122345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479607" y="7817"/>
            <a:ext cx="685680" cy="702610"/>
          </a:xfrm>
          <a:prstGeom prst="rect">
            <a:avLst/>
          </a:prstGeom>
        </p:spPr>
      </p:pic>
    </p:spTree>
    <p:extLst>
      <p:ext uri="{BB962C8B-B14F-4D97-AF65-F5344CB8AC3E}">
        <p14:creationId xmlns:p14="http://schemas.microsoft.com/office/powerpoint/2010/main" val="213747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hyperlink" Target="https://github.com/OmGawde/Intelligent-Bank-Statement-Processing-Framework-for-Explainable-FinancialInsights-and-CreditDecisio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0">
          <a:extLst>
            <a:ext uri="{FF2B5EF4-FFF2-40B4-BE49-F238E27FC236}">
              <a16:creationId xmlns:a16="http://schemas.microsoft.com/office/drawing/2014/main" id="{5E5135EC-96A3-DE02-5807-A5D0C933739D}"/>
            </a:ext>
          </a:extLst>
        </p:cNvPr>
        <p:cNvGrpSpPr/>
        <p:nvPr/>
      </p:nvGrpSpPr>
      <p:grpSpPr>
        <a:xfrm>
          <a:off x="0" y="0"/>
          <a:ext cx="0" cy="0"/>
          <a:chOff x="0" y="0"/>
          <a:chExt cx="0" cy="0"/>
        </a:xfrm>
      </p:grpSpPr>
      <p:sp>
        <p:nvSpPr>
          <p:cNvPr id="26" name="Google Shape;470;p30">
            <a:extLst>
              <a:ext uri="{FF2B5EF4-FFF2-40B4-BE49-F238E27FC236}">
                <a16:creationId xmlns:a16="http://schemas.microsoft.com/office/drawing/2014/main" id="{2BD9EF78-08AC-DF34-C9CF-664880451D48}"/>
              </a:ext>
            </a:extLst>
          </p:cNvPr>
          <p:cNvSpPr txBox="1"/>
          <p:nvPr/>
        </p:nvSpPr>
        <p:spPr>
          <a:xfrm>
            <a:off x="-74273" y="746626"/>
            <a:ext cx="12192000" cy="492402"/>
          </a:xfrm>
          <a:prstGeom prst="rect">
            <a:avLst/>
          </a:prstGeom>
          <a:noFill/>
          <a:ln>
            <a:noFill/>
          </a:ln>
        </p:spPr>
        <p:txBody>
          <a:bodyPr spcFirstLastPara="1" wrap="square" lIns="121900" tIns="121900" rIns="121900" bIns="121900" anchor="t" anchorCtr="0">
            <a:spAutoFit/>
          </a:bodyPr>
          <a:lstStyle/>
          <a:p>
            <a:pPr algn="ctr">
              <a:buSzPts val="1200"/>
            </a:pP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Starting TRL: </a:t>
            </a:r>
            <a:r>
              <a:rPr lang="en-US" sz="1600" b="1" dirty="0">
                <a:latin typeface="Times New Roman" panose="02020603050405020304" pitchFamily="18" charset="0"/>
                <a:cs typeface="Times New Roman" panose="02020603050405020304" pitchFamily="18" charset="0"/>
                <a:sym typeface="Arial"/>
              </a:rPr>
              <a:t>#1 (</a:t>
            </a:r>
            <a:r>
              <a:rPr lang="en-US" sz="1600" b="1" dirty="0">
                <a:solidFill>
                  <a:schemeClr val="tx1">
                    <a:lumMod val="75000"/>
                    <a:lumOff val="25000"/>
                  </a:schemeClr>
                </a:solidFill>
                <a:latin typeface="Times New Roman"/>
                <a:cs typeface="Times New Roman"/>
                <a:sym typeface="Arial"/>
              </a:rPr>
              <a:t>April-2026)</a:t>
            </a:r>
            <a:r>
              <a:rPr lang="en-US" sz="1600" b="1" dirty="0">
                <a:latin typeface="Times New Roman" panose="02020603050405020304" pitchFamily="18" charset="0"/>
                <a:cs typeface="Times New Roman" panose="02020603050405020304" pitchFamily="18" charset="0"/>
                <a:sym typeface="Arial"/>
              </a:rPr>
              <a:t> </a:t>
            </a:r>
            <a:r>
              <a:rPr lang="en-US" sz="1600" b="1" dirty="0">
                <a:latin typeface="Times New Roman" panose="02020603050405020304" pitchFamily="18" charset="0"/>
                <a:cs typeface="Times New Roman" panose="02020603050405020304" pitchFamily="18" charset="0"/>
              </a:rPr>
              <a:t>||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Current TRL: </a:t>
            </a:r>
            <a:r>
              <a:rPr lang="en-US" sz="1600" b="1" dirty="0">
                <a:latin typeface="Times New Roman" panose="02020603050405020304" pitchFamily="18" charset="0"/>
                <a:cs typeface="Times New Roman" panose="02020603050405020304" pitchFamily="18" charset="0"/>
                <a:sym typeface="Arial"/>
              </a:rPr>
              <a:t>#4 </a:t>
            </a:r>
            <a:r>
              <a:rPr lang="en-US" sz="1600" b="1" dirty="0">
                <a:latin typeface="Times New Roman" panose="02020603050405020304" pitchFamily="18" charset="0"/>
                <a:cs typeface="Times New Roman" panose="02020603050405020304" pitchFamily="18" charset="0"/>
              </a:rPr>
              <a:t>||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Target TRL: </a:t>
            </a:r>
            <a:r>
              <a:rPr lang="en-US" sz="1600" b="1" dirty="0">
                <a:latin typeface="Times New Roman" panose="02020603050405020304" pitchFamily="18" charset="0"/>
                <a:cs typeface="Times New Roman" panose="02020603050405020304" pitchFamily="18" charset="0"/>
                <a:sym typeface="Arial"/>
              </a:rPr>
              <a:t>#6 </a:t>
            </a:r>
            <a:r>
              <a:rPr lang="en-US" sz="1600" b="1" dirty="0">
                <a:solidFill>
                  <a:schemeClr val="tx1">
                    <a:lumMod val="75000"/>
                    <a:lumOff val="25000"/>
                  </a:schemeClr>
                </a:solidFill>
                <a:latin typeface="Times New Roman"/>
                <a:cs typeface="Times New Roman"/>
                <a:sym typeface="Arial"/>
              </a:rPr>
              <a:t>(December-2026)</a:t>
            </a:r>
            <a:r>
              <a:rPr lang="en-US" sz="1600" b="1" dirty="0">
                <a:latin typeface="Times New Roman" panose="02020603050405020304" pitchFamily="18" charset="0"/>
                <a:cs typeface="Times New Roman" panose="02020603050405020304" pitchFamily="18" charset="0"/>
                <a:sym typeface="Arial"/>
              </a:rPr>
              <a:t> ||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Overall Project Status: </a:t>
            </a:r>
            <a:endParaRPr lang="en-US" sz="1600" b="1"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1" name="Google Shape;461;p30">
            <a:extLst>
              <a:ext uri="{FF2B5EF4-FFF2-40B4-BE49-F238E27FC236}">
                <a16:creationId xmlns:a16="http://schemas.microsoft.com/office/drawing/2014/main" id="{D5C24C84-18DD-91EA-F595-C6EA5B3DE056}"/>
              </a:ext>
            </a:extLst>
          </p:cNvPr>
          <p:cNvSpPr txBox="1">
            <a:spLocks noGrp="1"/>
          </p:cNvSpPr>
          <p:nvPr>
            <p:ph type="title"/>
          </p:nvPr>
        </p:nvSpPr>
        <p:spPr>
          <a:xfrm>
            <a:off x="-619364" y="3523"/>
            <a:ext cx="12192000" cy="483200"/>
          </a:xfrm>
          <a:prstGeom prst="rect">
            <a:avLst/>
          </a:prstGeom>
          <a:noFill/>
          <a:ln>
            <a:noFill/>
          </a:ln>
        </p:spPr>
        <p:txBody>
          <a:bodyPr spcFirstLastPara="1" vert="horz" wrap="square" lIns="162533" tIns="81267" rIns="162533" bIns="81267" rtlCol="0" anchor="ctr" anchorCtr="0">
            <a:noAutofit/>
          </a:bodyPr>
          <a:lstStyle/>
          <a:p>
            <a:pPr algn="ctr"/>
            <a:r>
              <a:rPr lang="en-US" sz="1600" dirty="0">
                <a:solidFill>
                  <a:srgbClr val="002060"/>
                </a:solidFill>
                <a:latin typeface="Times New Roman" panose="02020603050405020304" pitchFamily="18" charset="0"/>
                <a:cs typeface="Times New Roman" panose="02020603050405020304" pitchFamily="18" charset="0"/>
              </a:rPr>
              <a:t> </a:t>
            </a:r>
            <a:br>
              <a:rPr lang="en-US" sz="1600" dirty="0">
                <a:solidFill>
                  <a:srgbClr val="002060"/>
                </a:solidFill>
                <a:latin typeface="Times New Roman" panose="02020603050405020304" pitchFamily="18" charset="0"/>
                <a:cs typeface="Times New Roman" panose="02020603050405020304" pitchFamily="18" charset="0"/>
              </a:rPr>
            </a:br>
            <a:br>
              <a:rPr lang="en-US" sz="1600" dirty="0">
                <a:solidFill>
                  <a:schemeClr val="tx2">
                    <a:lumMod val="50000"/>
                    <a:lumOff val="50000"/>
                  </a:schemeClr>
                </a:solidFill>
                <a:latin typeface="Times New Roman" panose="02020603050405020304" pitchFamily="18" charset="0"/>
                <a:cs typeface="Times New Roman" panose="02020603050405020304" pitchFamily="18" charset="0"/>
              </a:rPr>
            </a:br>
            <a:r>
              <a:rPr lang="en-US" sz="1600" dirty="0">
                <a:solidFill>
                  <a:schemeClr val="tx2">
                    <a:lumMod val="75000"/>
                    <a:lumOff val="25000"/>
                  </a:schemeClr>
                </a:solidFill>
                <a:latin typeface="Times New Roman" panose="02020603050405020304" pitchFamily="18" charset="0"/>
                <a:cs typeface="Times New Roman" panose="02020603050405020304" pitchFamily="18" charset="0"/>
              </a:rPr>
              <a:t>PROJECT Name  : </a:t>
            </a:r>
            <a:r>
              <a:rPr lang="en-US" sz="1600" dirty="0">
                <a:latin typeface="Times New Roman" panose="02020603050405020304" pitchFamily="18" charset="0"/>
                <a:cs typeface="Times New Roman" panose="02020603050405020304" pitchFamily="18" charset="0"/>
              </a:rPr>
              <a:t>Intelligent Bank Statement Processing Framework for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Explainable Financial Insights and Credit Decisioning</a:t>
            </a:r>
            <a:br>
              <a:rPr lang="en-IN" sz="1600" dirty="0">
                <a:solidFill>
                  <a:schemeClr val="tx2">
                    <a:lumMod val="75000"/>
                    <a:lumOff val="25000"/>
                  </a:schemeClr>
                </a:solidFill>
                <a:latin typeface="Times New Roman" panose="02020603050405020304" pitchFamily="18" charset="0"/>
                <a:cs typeface="Times New Roman" panose="02020603050405020304" pitchFamily="18" charset="0"/>
              </a:rPr>
            </a:br>
            <a:r>
              <a:rPr lang="en-US" sz="1600" dirty="0">
                <a:solidFill>
                  <a:srgbClr val="002060"/>
                </a:solidFill>
                <a:latin typeface="Times New Roman" panose="02020603050405020304" pitchFamily="18" charset="0"/>
                <a:cs typeface="Times New Roman" panose="02020603050405020304" pitchFamily="18" charset="0"/>
              </a:rPr>
              <a:t> </a:t>
            </a:r>
          </a:p>
        </p:txBody>
      </p:sp>
      <p:cxnSp>
        <p:nvCxnSpPr>
          <p:cNvPr id="462" name="Google Shape;462;p30">
            <a:extLst>
              <a:ext uri="{FF2B5EF4-FFF2-40B4-BE49-F238E27FC236}">
                <a16:creationId xmlns:a16="http://schemas.microsoft.com/office/drawing/2014/main" id="{800EBA1E-A65F-ADF8-BA07-573FF652ABB4}"/>
              </a:ext>
            </a:extLst>
          </p:cNvPr>
          <p:cNvCxnSpPr/>
          <p:nvPr/>
        </p:nvCxnSpPr>
        <p:spPr>
          <a:xfrm flipH="1">
            <a:off x="6157079" y="1388640"/>
            <a:ext cx="22400" cy="5470800"/>
          </a:xfrm>
          <a:prstGeom prst="straightConnector1">
            <a:avLst/>
          </a:prstGeom>
          <a:noFill/>
          <a:ln w="19050" cap="flat" cmpd="sng">
            <a:solidFill>
              <a:schemeClr val="lt1"/>
            </a:solidFill>
            <a:prstDash val="solid"/>
            <a:round/>
            <a:headEnd type="oval" w="med" len="med"/>
            <a:tailEnd type="oval" w="med" len="med"/>
          </a:ln>
        </p:spPr>
      </p:cxnSp>
      <p:cxnSp>
        <p:nvCxnSpPr>
          <p:cNvPr id="463" name="Google Shape;463;p30">
            <a:extLst>
              <a:ext uri="{FF2B5EF4-FFF2-40B4-BE49-F238E27FC236}">
                <a16:creationId xmlns:a16="http://schemas.microsoft.com/office/drawing/2014/main" id="{18D802C8-CD1B-5C7C-1DD4-CBA0CEBE94DA}"/>
              </a:ext>
            </a:extLst>
          </p:cNvPr>
          <p:cNvCxnSpPr/>
          <p:nvPr/>
        </p:nvCxnSpPr>
        <p:spPr>
          <a:xfrm>
            <a:off x="174587" y="3879575"/>
            <a:ext cx="11870800" cy="0"/>
          </a:xfrm>
          <a:prstGeom prst="straightConnector1">
            <a:avLst/>
          </a:prstGeom>
          <a:noFill/>
          <a:ln w="19050" cap="flat" cmpd="sng">
            <a:solidFill>
              <a:schemeClr val="lt1"/>
            </a:solidFill>
            <a:prstDash val="solid"/>
            <a:round/>
            <a:headEnd type="oval" w="med" len="med"/>
            <a:tailEnd type="oval" w="med" len="med"/>
          </a:ln>
        </p:spPr>
      </p:cxnSp>
      <p:sp>
        <p:nvSpPr>
          <p:cNvPr id="464" name="Google Shape;464;p30">
            <a:extLst>
              <a:ext uri="{FF2B5EF4-FFF2-40B4-BE49-F238E27FC236}">
                <a16:creationId xmlns:a16="http://schemas.microsoft.com/office/drawing/2014/main" id="{68390DF6-5864-8E74-34E8-28968F7CBB9F}"/>
              </a:ext>
            </a:extLst>
          </p:cNvPr>
          <p:cNvSpPr/>
          <p:nvPr/>
        </p:nvSpPr>
        <p:spPr>
          <a:xfrm>
            <a:off x="525383" y="1092437"/>
            <a:ext cx="5233200" cy="483200"/>
          </a:xfrm>
          <a:prstGeom prst="rect">
            <a:avLst/>
          </a:prstGeom>
          <a:noFill/>
          <a:ln>
            <a:noFill/>
          </a:ln>
        </p:spPr>
        <p:txBody>
          <a:bodyPr spcFirstLastPara="1" wrap="square" lIns="121900" tIns="60933" rIns="121900" bIns="60933" anchor="ctr" anchorCtr="0">
            <a:noAutofit/>
          </a:bodyPr>
          <a:lstStyle/>
          <a:p>
            <a:pPr algn="ctr">
              <a:buClr>
                <a:srgbClr val="000000"/>
              </a:buClr>
              <a:buSzPts val="1600"/>
            </a:pPr>
            <a:r>
              <a:rPr lang="en" sz="2133" b="1">
                <a:solidFill>
                  <a:schemeClr val="lt1"/>
                </a:solidFill>
                <a:latin typeface="Times New Roman" panose="02020603050405020304" pitchFamily="18" charset="0"/>
                <a:ea typeface="Arial"/>
                <a:cs typeface="Times New Roman" panose="02020603050405020304" pitchFamily="18" charset="0"/>
                <a:sym typeface="Arial"/>
              </a:rPr>
              <a:t>Objective</a:t>
            </a:r>
            <a:endParaRPr sz="1867">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5" name="Google Shape;465;p30">
            <a:extLst>
              <a:ext uri="{FF2B5EF4-FFF2-40B4-BE49-F238E27FC236}">
                <a16:creationId xmlns:a16="http://schemas.microsoft.com/office/drawing/2014/main" id="{784138D6-C730-43B7-90B6-1F0A5A8FD388}"/>
              </a:ext>
            </a:extLst>
          </p:cNvPr>
          <p:cNvSpPr/>
          <p:nvPr/>
        </p:nvSpPr>
        <p:spPr>
          <a:xfrm>
            <a:off x="6187449" y="1192755"/>
            <a:ext cx="5811400" cy="522967"/>
          </a:xfrm>
          <a:prstGeom prst="rect">
            <a:avLst/>
          </a:prstGeom>
          <a:noFill/>
          <a:ln>
            <a:noFill/>
          </a:ln>
        </p:spPr>
        <p:txBody>
          <a:bodyPr spcFirstLastPara="1" wrap="square" lIns="121900" tIns="60933" rIns="121900" bIns="60933" anchor="ctr" anchorCtr="0">
            <a:noAutofit/>
          </a:bodyPr>
          <a:lstStyle/>
          <a:p>
            <a:pPr algn="ctr">
              <a:buSzPts val="1600"/>
            </a:pPr>
            <a:r>
              <a:rPr lang="en" sz="2000" b="1">
                <a:solidFill>
                  <a:schemeClr val="lt1"/>
                </a:solidFill>
                <a:latin typeface="Times New Roman" panose="02020603050405020304" pitchFamily="18" charset="0"/>
                <a:ea typeface="Arial"/>
                <a:cs typeface="Times New Roman" panose="02020603050405020304" pitchFamily="18" charset="0"/>
                <a:sym typeface="Arial"/>
              </a:rPr>
              <a:t>Key Deliverables in </a:t>
            </a:r>
            <a:r>
              <a:rPr lang="en" sz="2000" b="1">
                <a:solidFill>
                  <a:schemeClr val="lt1"/>
                </a:solidFill>
                <a:latin typeface="Times New Roman" panose="02020603050405020304" pitchFamily="18" charset="0"/>
                <a:cs typeface="Times New Roman" panose="02020603050405020304" pitchFamily="18" charset="0"/>
              </a:rPr>
              <a:t>Nov-Dec </a:t>
            </a:r>
            <a:r>
              <a:rPr lang="en" sz="2000" b="1">
                <a:solidFill>
                  <a:schemeClr val="lt1"/>
                </a:solidFill>
                <a:latin typeface="Times New Roman" panose="02020603050405020304" pitchFamily="18" charset="0"/>
                <a:ea typeface="Arial"/>
                <a:cs typeface="Times New Roman" panose="02020603050405020304" pitchFamily="18" charset="0"/>
                <a:sym typeface="Arial"/>
              </a:rPr>
              <a:t>2025</a:t>
            </a:r>
            <a:endParaRPr sz="2000">
              <a:solidFill>
                <a:schemeClr val="lt1"/>
              </a:solidFill>
              <a:latin typeface="Times New Roman" panose="02020603050405020304" pitchFamily="18" charset="0"/>
              <a:ea typeface="Arial"/>
              <a:cs typeface="Times New Roman" panose="02020603050405020304" pitchFamily="18" charset="0"/>
              <a:sym typeface="Arial"/>
            </a:endParaRPr>
          </a:p>
        </p:txBody>
      </p:sp>
      <p:sp>
        <p:nvSpPr>
          <p:cNvPr id="466" name="Google Shape;466;p30">
            <a:extLst>
              <a:ext uri="{FF2B5EF4-FFF2-40B4-BE49-F238E27FC236}">
                <a16:creationId xmlns:a16="http://schemas.microsoft.com/office/drawing/2014/main" id="{2512EC33-A4F9-F4EA-CE5B-F1D782BDD060}"/>
              </a:ext>
            </a:extLst>
          </p:cNvPr>
          <p:cNvSpPr/>
          <p:nvPr/>
        </p:nvSpPr>
        <p:spPr>
          <a:xfrm>
            <a:off x="358776" y="3878704"/>
            <a:ext cx="5558400" cy="483200"/>
          </a:xfrm>
          <a:prstGeom prst="rect">
            <a:avLst/>
          </a:prstGeom>
          <a:noFill/>
          <a:ln>
            <a:noFill/>
          </a:ln>
        </p:spPr>
        <p:txBody>
          <a:bodyPr spcFirstLastPara="1" wrap="square" lIns="121900" tIns="60933" rIns="121900" bIns="60933" anchor="ctr" anchorCtr="0">
            <a:noAutofit/>
          </a:bodyPr>
          <a:lstStyle/>
          <a:p>
            <a:pPr algn="ctr">
              <a:buSzPts val="1600"/>
            </a:pPr>
            <a:r>
              <a:rPr lang="en" sz="2133" b="1">
                <a:solidFill>
                  <a:schemeClr val="lt1"/>
                </a:solidFill>
                <a:latin typeface="Times New Roman" panose="02020603050405020304" pitchFamily="18" charset="0"/>
                <a:ea typeface="Arial"/>
                <a:cs typeface="Times New Roman" panose="02020603050405020304" pitchFamily="18" charset="0"/>
                <a:sym typeface="Arial"/>
              </a:rPr>
              <a:t>Plan for next </a:t>
            </a:r>
            <a:r>
              <a:rPr lang="en" sz="2133" b="1">
                <a:solidFill>
                  <a:schemeClr val="lt1"/>
                </a:solidFill>
                <a:latin typeface="Times New Roman" panose="02020603050405020304" pitchFamily="18" charset="0"/>
                <a:cs typeface="Times New Roman" panose="02020603050405020304" pitchFamily="18" charset="0"/>
              </a:rPr>
              <a:t>2 month</a:t>
            </a:r>
            <a:endParaRPr sz="1867">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9" name="Google Shape;469;p30">
            <a:extLst>
              <a:ext uri="{FF2B5EF4-FFF2-40B4-BE49-F238E27FC236}">
                <a16:creationId xmlns:a16="http://schemas.microsoft.com/office/drawing/2014/main" id="{7EF882C9-A6A0-B548-386A-A2B7BADDE9B8}"/>
              </a:ext>
            </a:extLst>
          </p:cNvPr>
          <p:cNvSpPr txBox="1">
            <a:spLocks noGrp="1"/>
          </p:cNvSpPr>
          <p:nvPr>
            <p:ph type="body" idx="1"/>
          </p:nvPr>
        </p:nvSpPr>
        <p:spPr>
          <a:xfrm>
            <a:off x="489696" y="1963574"/>
            <a:ext cx="5800652" cy="4307542"/>
          </a:xfrm>
          <a:prstGeom prst="rect">
            <a:avLst/>
          </a:prstGeom>
          <a:noFill/>
          <a:ln>
            <a:noFill/>
          </a:ln>
        </p:spPr>
        <p:txBody>
          <a:bodyPr spcFirstLastPara="1" vert="horz" wrap="square" lIns="121900" tIns="60933" rIns="121900" bIns="60933" rtlCol="0" anchor="t" anchorCtr="0">
            <a:noAutofit/>
          </a:bodyPr>
          <a:lstStyle/>
          <a:p>
            <a:pPr marL="16932" indent="0" algn="just">
              <a:buSzPts val="1200"/>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Business Value &amp; Game changers</a:t>
            </a: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 </a:t>
            </a:r>
          </a:p>
          <a:p>
            <a:pPr marL="16932" indent="0" algn="just">
              <a:buSzPts val="1200"/>
              <a:buNone/>
            </a:pPr>
            <a:r>
              <a:rPr lang="en-US" sz="1400" dirty="0">
                <a:latin typeface="Times New Roman" panose="02020603050405020304" pitchFamily="18" charset="0"/>
                <a:cs typeface="Times New Roman" panose="02020603050405020304" pitchFamily="18" charset="0"/>
              </a:rPr>
              <a:t>Highlight how the project delivers value:</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Reduces manual effort by ~80–90% and accelerates processing time by 3–5X, lowering operational costs and improving efficiency.</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OCR understanding for context-aware extraction and intelligent data structuring </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More scalable and adaptable than template-based tools, handling multiple bank formats with higher accuracy </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Delivers high accuracy, cost efficiency, faster decision-making, secure data handling, and scalable deployment. </a:t>
            </a:r>
            <a:endParaRPr lang="en-IN"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16932" indent="0" algn="just">
              <a:buSzPts val="120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Key Accomplishments</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 &lt;Month Name&gt; : &lt;August 2026&gt; </a:t>
            </a:r>
          </a:p>
          <a:p>
            <a:pPr marL="16932" indent="0" algn="just">
              <a:buSzPts val="1200"/>
              <a:buNone/>
            </a:pPr>
            <a:r>
              <a:rPr lang="en-US" sz="1400" dirty="0">
                <a:latin typeface="Times New Roman" panose="02020603050405020304" pitchFamily="18" charset="0"/>
                <a:cs typeface="Times New Roman" panose="02020603050405020304" pitchFamily="18" charset="0"/>
              </a:rPr>
              <a:t>Summarize major achievements since the last update:</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Improved feature extraction accuracy and integrated Financial Health Scoring, anomaly detection, and flagging.</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Completed case study on </a:t>
            </a:r>
            <a:r>
              <a:rPr lang="en-US" sz="1400" dirty="0" err="1">
                <a:latin typeface="Times New Roman" panose="02020603050405020304" pitchFamily="18" charset="0"/>
                <a:cs typeface="Times New Roman" panose="02020603050405020304" pitchFamily="18" charset="0"/>
              </a:rPr>
              <a:t>Precisa</a:t>
            </a:r>
            <a:r>
              <a:rPr lang="en-US" sz="1400" dirty="0">
                <a:latin typeface="Times New Roman" panose="02020603050405020304" pitchFamily="18" charset="0"/>
                <a:cs typeface="Times New Roman" panose="02020603050405020304" pitchFamily="18" charset="0"/>
              </a:rPr>
              <a:t> and compared our decision-making outputs with </a:t>
            </a:r>
            <a:r>
              <a:rPr lang="en-US" sz="1400" dirty="0" err="1">
                <a:latin typeface="Times New Roman" panose="02020603050405020304" pitchFamily="18" charset="0"/>
                <a:cs typeface="Times New Roman" panose="02020603050405020304" pitchFamily="18" charset="0"/>
              </a:rPr>
              <a:t>Precisa’s</a:t>
            </a:r>
            <a:r>
              <a:rPr lang="en-US" sz="1400" dirty="0">
                <a:latin typeface="Times New Roman" panose="02020603050405020304" pitchFamily="18" charset="0"/>
                <a:cs typeface="Times New Roman" panose="02020603050405020304" pitchFamily="18" charset="0"/>
              </a:rPr>
              <a:t> results using their software.</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Cold mailed to </a:t>
            </a:r>
            <a:r>
              <a:rPr lang="en-US" sz="1400" dirty="0" err="1">
                <a:latin typeface="Times New Roman" panose="02020603050405020304" pitchFamily="18" charset="0"/>
                <a:cs typeface="Times New Roman" panose="02020603050405020304" pitchFamily="18" charset="0"/>
              </a:rPr>
              <a:t>Precisa</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Perfios</a:t>
            </a:r>
            <a:r>
              <a:rPr lang="en-US" sz="1400" dirty="0">
                <a:latin typeface="Times New Roman" panose="02020603050405020304" pitchFamily="18" charset="0"/>
                <a:cs typeface="Times New Roman" panose="02020603050405020304" pitchFamily="18" charset="0"/>
              </a:rPr>
              <a:t> to explore software access and understand their financial decision-making and insights process.</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Researched finance-specific LLMs like </a:t>
            </a:r>
            <a:r>
              <a:rPr lang="en-US" sz="1400" dirty="0" err="1">
                <a:latin typeface="Times New Roman" panose="02020603050405020304" pitchFamily="18" charset="0"/>
                <a:cs typeface="Times New Roman" panose="02020603050405020304" pitchFamily="18" charset="0"/>
              </a:rPr>
              <a:t>FinanceParam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BharatGen’s</a:t>
            </a:r>
            <a:r>
              <a:rPr lang="en-US" sz="1400" dirty="0">
                <a:latin typeface="Times New Roman" panose="02020603050405020304" pitchFamily="18" charset="0"/>
                <a:cs typeface="Times New Roman" panose="02020603050405020304" pitchFamily="18" charset="0"/>
              </a:rPr>
              <a:t> Finance Model) and connected with </a:t>
            </a:r>
            <a:r>
              <a:rPr lang="en-US" sz="1400" dirty="0" err="1">
                <a:latin typeface="Times New Roman" panose="02020603050405020304" pitchFamily="18" charset="0"/>
                <a:cs typeface="Times New Roman" panose="02020603050405020304" pitchFamily="18" charset="0"/>
              </a:rPr>
              <a:t>Razorpay</a:t>
            </a:r>
            <a:r>
              <a:rPr lang="en-US" sz="1400" dirty="0">
                <a:latin typeface="Times New Roman" panose="02020603050405020304" pitchFamily="18" charset="0"/>
                <a:cs typeface="Times New Roman" panose="02020603050405020304" pitchFamily="18" charset="0"/>
              </a:rPr>
              <a:t> to learn about their Finance AI model, Vulcan.</a:t>
            </a:r>
          </a:p>
        </p:txBody>
      </p:sp>
      <p:sp>
        <p:nvSpPr>
          <p:cNvPr id="470" name="Google Shape;470;p30">
            <a:extLst>
              <a:ext uri="{FF2B5EF4-FFF2-40B4-BE49-F238E27FC236}">
                <a16:creationId xmlns:a16="http://schemas.microsoft.com/office/drawing/2014/main" id="{AFBD69EA-2E16-9206-B2D5-2F99E066C3CD}"/>
              </a:ext>
            </a:extLst>
          </p:cNvPr>
          <p:cNvSpPr txBox="1"/>
          <p:nvPr/>
        </p:nvSpPr>
        <p:spPr>
          <a:xfrm>
            <a:off x="-127000" y="510008"/>
            <a:ext cx="12192000" cy="492402"/>
          </a:xfrm>
          <a:prstGeom prst="rect">
            <a:avLst/>
          </a:prstGeom>
          <a:noFill/>
          <a:ln>
            <a:noFill/>
          </a:ln>
        </p:spPr>
        <p:txBody>
          <a:bodyPr spcFirstLastPara="1" wrap="square" lIns="121900" tIns="121900" rIns="121900" bIns="121900" anchor="t" anchorCtr="0">
            <a:spAutoFit/>
          </a:bodyPr>
          <a:lstStyle/>
          <a:p>
            <a:pPr algn="ctr">
              <a:buSzPts val="1200"/>
            </a:pPr>
            <a:r>
              <a:rPr lang="en" sz="1600" b="1" dirty="0">
                <a:solidFill>
                  <a:schemeClr val="tx2">
                    <a:lumMod val="75000"/>
                    <a:lumOff val="25000"/>
                  </a:schemeClr>
                </a:solidFill>
                <a:latin typeface="Times New Roman" panose="02020603050405020304" pitchFamily="18" charset="0"/>
                <a:cs typeface="Times New Roman" panose="02020603050405020304" pitchFamily="18" charset="0"/>
              </a:rPr>
              <a:t>Domain: </a:t>
            </a:r>
            <a:r>
              <a:rPr lang="en" sz="1600" b="1" dirty="0">
                <a:latin typeface="Times New Roman" panose="02020603050405020304" pitchFamily="18" charset="0"/>
                <a:cs typeface="Times New Roman" panose="02020603050405020304" pitchFamily="18" charset="0"/>
              </a:rPr>
              <a:t>Insurance/Fintech || </a:t>
            </a:r>
            <a:r>
              <a:rPr lang="en"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Team: </a:t>
            </a:r>
            <a:r>
              <a:rPr lang="en" sz="1600" b="1" dirty="0">
                <a:latin typeface="Times New Roman" panose="02020603050405020304" pitchFamily="18" charset="0"/>
                <a:cs typeface="Times New Roman" panose="02020603050405020304" pitchFamily="18" charset="0"/>
              </a:rPr>
              <a:t>Om Gawde, Suhani Walanju, Anirudh Sarve</a:t>
            </a:r>
            <a:endParaRPr sz="1600" b="1" dirty="0">
              <a:solidFill>
                <a:srgbClr val="000000"/>
              </a:solidFill>
              <a:latin typeface="Times New Roman" panose="02020603050405020304" pitchFamily="18" charset="0"/>
              <a:ea typeface="Arial"/>
              <a:cs typeface="Times New Roman" panose="02020603050405020304" pitchFamily="18" charset="0"/>
              <a:sym typeface="Arial"/>
            </a:endParaRPr>
          </a:p>
        </p:txBody>
      </p:sp>
      <p:pic>
        <p:nvPicPr>
          <p:cNvPr id="4" name="Picture 3" descr="A red and white target with a yellow arrow&#10;&#10;AI-generated content may be incorrect.">
            <a:extLst>
              <a:ext uri="{FF2B5EF4-FFF2-40B4-BE49-F238E27FC236}">
                <a16:creationId xmlns:a16="http://schemas.microsoft.com/office/drawing/2014/main" id="{C640114F-A4FF-396A-13CD-E1069131D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73" y="1223388"/>
            <a:ext cx="396000" cy="396000"/>
          </a:xfrm>
          <a:prstGeom prst="rect">
            <a:avLst/>
          </a:prstGeom>
        </p:spPr>
      </p:pic>
      <p:pic>
        <p:nvPicPr>
          <p:cNvPr id="7" name="Picture 6" descr="A group of people with arms up and a star above them&#10;&#10;AI-generated content may be incorrect.">
            <a:extLst>
              <a:ext uri="{FF2B5EF4-FFF2-40B4-BE49-F238E27FC236}">
                <a16:creationId xmlns:a16="http://schemas.microsoft.com/office/drawing/2014/main" id="{1BBEFB57-4909-3441-91BF-9BAF70527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772" y="4021157"/>
            <a:ext cx="396000" cy="396000"/>
          </a:xfrm>
          <a:prstGeom prst="rect">
            <a:avLst/>
          </a:prstGeom>
        </p:spPr>
      </p:pic>
      <p:pic>
        <p:nvPicPr>
          <p:cNvPr id="10" name="Picture 9" descr="A handshake with a tick and a white cloud&#10;&#10;AI-generated content may be incorrect.">
            <a:extLst>
              <a:ext uri="{FF2B5EF4-FFF2-40B4-BE49-F238E27FC236}">
                <a16:creationId xmlns:a16="http://schemas.microsoft.com/office/drawing/2014/main" id="{E8E5579A-A321-4495-6810-C11A2024EF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0922" y="2037779"/>
            <a:ext cx="396000" cy="396000"/>
          </a:xfrm>
          <a:prstGeom prst="rect">
            <a:avLst/>
          </a:prstGeom>
        </p:spPr>
      </p:pic>
      <p:pic>
        <p:nvPicPr>
          <p:cNvPr id="12" name="Picture 11" descr="A person holding a paper plane&#10;&#10;AI-generated content may be incorrect.">
            <a:extLst>
              <a:ext uri="{FF2B5EF4-FFF2-40B4-BE49-F238E27FC236}">
                <a16:creationId xmlns:a16="http://schemas.microsoft.com/office/drawing/2014/main" id="{A65EC53A-2016-FF09-219D-90835E456A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11815" y="3559528"/>
            <a:ext cx="396000" cy="396000"/>
          </a:xfrm>
          <a:prstGeom prst="rect">
            <a:avLst/>
          </a:prstGeom>
        </p:spPr>
      </p:pic>
      <p:sp>
        <p:nvSpPr>
          <p:cNvPr id="2" name="Google Shape;469;p30">
            <a:extLst>
              <a:ext uri="{FF2B5EF4-FFF2-40B4-BE49-F238E27FC236}">
                <a16:creationId xmlns:a16="http://schemas.microsoft.com/office/drawing/2014/main" id="{00DEAA9E-D95E-BB8F-F108-1A8A8FC862B3}"/>
              </a:ext>
            </a:extLst>
          </p:cNvPr>
          <p:cNvSpPr txBox="1">
            <a:spLocks/>
          </p:cNvSpPr>
          <p:nvPr/>
        </p:nvSpPr>
        <p:spPr>
          <a:xfrm>
            <a:off x="7011128" y="2080910"/>
            <a:ext cx="5160240" cy="3129513"/>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0" indent="0" algn="just">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Planned Deliverables (Next one Months):</a:t>
            </a:r>
          </a:p>
          <a:p>
            <a:pPr marL="285750" indent="-285750" algn="just">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Scale extraction pipeline support to complete templates for 15 different bank formats.</a:t>
            </a:r>
          </a:p>
          <a:p>
            <a:pPr marL="285750" indent="-285750" algn="just">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Complete the Decision-Making Engine for loan approval analysis using the extracted financial parameters. </a:t>
            </a:r>
          </a:p>
          <a:p>
            <a:pPr marL="285750" indent="-285750" algn="just">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Integrate an LLM into the pipeline to improve transaction categorization and overall feature extraction accuracy. </a:t>
            </a:r>
          </a:p>
          <a:p>
            <a:pPr marL="0" indent="0" algn="just">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Risks &amp; Challenges:</a:t>
            </a:r>
            <a:endParaRPr lang="en-US"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1400" dirty="0">
                <a:solidFill>
                  <a:schemeClr val="tx1"/>
                </a:solidFill>
                <a:latin typeface="Times New Roman" panose="02020603050405020304" pitchFamily="18" charset="0"/>
                <a:cs typeface="Times New Roman" panose="02020603050405020304" pitchFamily="18" charset="0"/>
              </a:rPr>
              <a:t>Handling different bank statement PDF formats made extraction challenging.</a:t>
            </a:r>
          </a:p>
          <a:p>
            <a:pPr marL="285750" indent="-285750" algn="just">
              <a:buFont typeface="Wingdings" panose="05000000000000000000" pitchFamily="2" charset="2"/>
              <a:buChar char="q"/>
            </a:pPr>
            <a:r>
              <a:rPr lang="en-US" sz="1400" dirty="0">
                <a:solidFill>
                  <a:schemeClr val="tx1"/>
                </a:solidFill>
                <a:latin typeface="Times New Roman" panose="02020603050405020304" pitchFamily="18" charset="0"/>
                <a:cs typeface="Times New Roman" panose="02020603050405020304" pitchFamily="18" charset="0"/>
              </a:rPr>
              <a:t>Features Extraction from the description in the bank statement was challenging.</a:t>
            </a:r>
            <a:endParaRPr lang="en-IN" sz="1400" dirty="0">
              <a:solidFill>
                <a:schemeClr val="tx2">
                  <a:lumMod val="75000"/>
                  <a:lumOff val="25000"/>
                </a:schemeClr>
              </a:solidFill>
              <a:latin typeface="Times New Roman" panose="02020603050405020304" pitchFamily="18" charset="0"/>
              <a:cs typeface="Times New Roman" panose="02020603050405020304" pitchFamily="18" charset="0"/>
            </a:endParaRPr>
          </a:p>
          <a:p>
            <a:pPr marL="0" indent="0" algn="just">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Feedback &amp; improvements</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a:t>
            </a:r>
          </a:p>
        </p:txBody>
      </p:sp>
      <p:pic>
        <p:nvPicPr>
          <p:cNvPr id="5" name="Picture 4" descr="A clipboard with a graph on it&#10;&#10;AI-generated content may be incorrect.">
            <a:extLst>
              <a:ext uri="{FF2B5EF4-FFF2-40B4-BE49-F238E27FC236}">
                <a16:creationId xmlns:a16="http://schemas.microsoft.com/office/drawing/2014/main" id="{2108D23D-1E8E-7B10-DA5F-EC7F1352F0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556" y="1974811"/>
            <a:ext cx="396000" cy="396000"/>
          </a:xfrm>
          <a:prstGeom prst="rect">
            <a:avLst/>
          </a:prstGeom>
        </p:spPr>
      </p:pic>
      <p:pic>
        <p:nvPicPr>
          <p:cNvPr id="9" name="Picture 8" descr="A couple of people sitting at a table&#10;&#10;AI-generated content may be incorrect.">
            <a:extLst>
              <a:ext uri="{FF2B5EF4-FFF2-40B4-BE49-F238E27FC236}">
                <a16:creationId xmlns:a16="http://schemas.microsoft.com/office/drawing/2014/main" id="{7EEA42CF-6C90-27E7-7BA1-E4CB6AB137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25597" y="4572952"/>
            <a:ext cx="396000" cy="396000"/>
          </a:xfrm>
          <a:prstGeom prst="rect">
            <a:avLst/>
          </a:prstGeom>
        </p:spPr>
      </p:pic>
      <p:sp>
        <p:nvSpPr>
          <p:cNvPr id="13" name="TextBox 12">
            <a:extLst>
              <a:ext uri="{FF2B5EF4-FFF2-40B4-BE49-F238E27FC236}">
                <a16:creationId xmlns:a16="http://schemas.microsoft.com/office/drawing/2014/main" id="{FE72EAF0-7DEA-55AF-300B-42B24357F04E}"/>
              </a:ext>
            </a:extLst>
          </p:cNvPr>
          <p:cNvSpPr txBox="1"/>
          <p:nvPr/>
        </p:nvSpPr>
        <p:spPr>
          <a:xfrm>
            <a:off x="539500" y="1163618"/>
            <a:ext cx="11545402" cy="830997"/>
          </a:xfrm>
          <a:prstGeom prst="rect">
            <a:avLst/>
          </a:prstGeom>
          <a:noFill/>
        </p:spPr>
        <p:txBody>
          <a:bodyPr wrap="square">
            <a:spAutoFit/>
          </a:bodyPr>
          <a:lstStyle/>
          <a:p>
            <a:r>
              <a:rPr lang="en" sz="1600" b="1" dirty="0">
                <a:solidFill>
                  <a:schemeClr val="tx2">
                    <a:lumMod val="75000"/>
                    <a:lumOff val="25000"/>
                  </a:schemeClr>
                </a:solidFill>
                <a:latin typeface="Times New Roman" panose="02020603050405020304" pitchFamily="18" charset="0"/>
                <a:cs typeface="Times New Roman" panose="02020603050405020304" pitchFamily="18" charset="0"/>
              </a:rPr>
              <a:t>Milestone Objective: </a:t>
            </a:r>
            <a:r>
              <a:rPr lang="en-US" sz="1600" dirty="0">
                <a:latin typeface="Times New Roman" panose="02020603050405020304" pitchFamily="18" charset="0"/>
                <a:cs typeface="Times New Roman" panose="02020603050405020304" pitchFamily="18" charset="0"/>
              </a:rPr>
              <a:t>This project automates the extraction of structured financial data from diverse and unstructured bank statement formats, eliminating manual effort and reducing errors in data processing. It enables banks and NBFCs to efficiently analyze customer financial behavior and transaction patterns, delivering faster, accurate, and data-driven loan approval decisions.</a:t>
            </a:r>
          </a:p>
        </p:txBody>
      </p:sp>
      <p:cxnSp>
        <p:nvCxnSpPr>
          <p:cNvPr id="16" name="Straight Connector 15">
            <a:extLst>
              <a:ext uri="{FF2B5EF4-FFF2-40B4-BE49-F238E27FC236}">
                <a16:creationId xmlns:a16="http://schemas.microsoft.com/office/drawing/2014/main" id="{60335FAF-9199-847F-9526-4428E73DC662}"/>
              </a:ext>
            </a:extLst>
          </p:cNvPr>
          <p:cNvCxnSpPr/>
          <p:nvPr/>
        </p:nvCxnSpPr>
        <p:spPr>
          <a:xfrm>
            <a:off x="401046" y="1156298"/>
            <a:ext cx="11640073" cy="0"/>
          </a:xfrm>
          <a:prstGeom prst="line">
            <a:avLst/>
          </a:prstGeom>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A19B6521-17C4-FCDF-76A7-A90C6688980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573548" y="6366344"/>
            <a:ext cx="396000" cy="396000"/>
          </a:xfrm>
          <a:prstGeom prst="rect">
            <a:avLst/>
          </a:prstGeom>
        </p:spPr>
      </p:pic>
      <p:pic>
        <p:nvPicPr>
          <p:cNvPr id="17" name="Picture 16">
            <a:extLst>
              <a:ext uri="{FF2B5EF4-FFF2-40B4-BE49-F238E27FC236}">
                <a16:creationId xmlns:a16="http://schemas.microsoft.com/office/drawing/2014/main" id="{7041E045-FE9A-2233-46E5-097BD3A4474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66611" y="5302056"/>
            <a:ext cx="396000" cy="396000"/>
          </a:xfrm>
          <a:prstGeom prst="rect">
            <a:avLst/>
          </a:prstGeom>
        </p:spPr>
      </p:pic>
      <p:sp>
        <p:nvSpPr>
          <p:cNvPr id="18" name="Google Shape;469;p30">
            <a:extLst>
              <a:ext uri="{FF2B5EF4-FFF2-40B4-BE49-F238E27FC236}">
                <a16:creationId xmlns:a16="http://schemas.microsoft.com/office/drawing/2014/main" id="{AC4D0540-6CEF-837A-6E1C-DAFCB3DDAC4E}"/>
              </a:ext>
            </a:extLst>
          </p:cNvPr>
          <p:cNvSpPr txBox="1">
            <a:spLocks/>
          </p:cNvSpPr>
          <p:nvPr/>
        </p:nvSpPr>
        <p:spPr>
          <a:xfrm>
            <a:off x="6969548" y="5992394"/>
            <a:ext cx="5140805" cy="307777"/>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16932" indent="0">
              <a:buSzPts val="1200"/>
              <a:buNone/>
            </a:pP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Demo Links</a:t>
            </a:r>
            <a:endParaRPr lang="en-US" sz="1400"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F8F0F48-080E-6FF2-7C4E-62F12863F54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80922" y="5887768"/>
            <a:ext cx="396000" cy="396000"/>
          </a:xfrm>
          <a:prstGeom prst="rect">
            <a:avLst/>
          </a:prstGeom>
        </p:spPr>
      </p:pic>
      <p:sp>
        <p:nvSpPr>
          <p:cNvPr id="23" name="Google Shape;469;p30">
            <a:extLst>
              <a:ext uri="{FF2B5EF4-FFF2-40B4-BE49-F238E27FC236}">
                <a16:creationId xmlns:a16="http://schemas.microsoft.com/office/drawing/2014/main" id="{908F4453-E74C-A295-D839-5BD8DC5C231D}"/>
              </a:ext>
            </a:extLst>
          </p:cNvPr>
          <p:cNvSpPr txBox="1">
            <a:spLocks/>
          </p:cNvSpPr>
          <p:nvPr/>
        </p:nvSpPr>
        <p:spPr>
          <a:xfrm>
            <a:off x="6969548" y="5262736"/>
            <a:ext cx="4886130" cy="743547"/>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16932" indent="0" algn="just">
              <a:buSzPts val="1200"/>
              <a:buNone/>
            </a:pP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Github Links</a:t>
            </a:r>
            <a:r>
              <a:rPr lang="en" sz="1400"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12"/>
              </a:rPr>
              <a:t>https://github.com/OmGawde/Intelligent-Bank-Statement-Processing-Framework-for-Explainable-FinancialInsights-and-CreditDecision</a:t>
            </a:r>
            <a:endParaRPr lang="en" sz="14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85C87985-5B1D-5414-8917-B79D330C074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74587" y="6345922"/>
            <a:ext cx="396000" cy="390825"/>
          </a:xfrm>
          <a:prstGeom prst="rect">
            <a:avLst/>
          </a:prstGeom>
        </p:spPr>
      </p:pic>
      <p:cxnSp>
        <p:nvCxnSpPr>
          <p:cNvPr id="27" name="Straight Connector 26">
            <a:extLst>
              <a:ext uri="{FF2B5EF4-FFF2-40B4-BE49-F238E27FC236}">
                <a16:creationId xmlns:a16="http://schemas.microsoft.com/office/drawing/2014/main" id="{B3AA8289-10B5-4CE7-3ABD-ECAB55EA85FF}"/>
              </a:ext>
            </a:extLst>
          </p:cNvPr>
          <p:cNvCxnSpPr/>
          <p:nvPr/>
        </p:nvCxnSpPr>
        <p:spPr>
          <a:xfrm>
            <a:off x="401046" y="1994615"/>
            <a:ext cx="11640073" cy="0"/>
          </a:xfrm>
          <a:prstGeom prst="line">
            <a:avLst/>
          </a:prstGeom>
        </p:spPr>
        <p:style>
          <a:lnRef idx="2">
            <a:schemeClr val="dk1"/>
          </a:lnRef>
          <a:fillRef idx="0">
            <a:schemeClr val="dk1"/>
          </a:fillRef>
          <a:effectRef idx="1">
            <a:schemeClr val="dk1"/>
          </a:effectRef>
          <a:fontRef idx="minor">
            <a:schemeClr val="tx1"/>
          </a:fontRef>
        </p:style>
      </p:cxnSp>
      <p:sp>
        <p:nvSpPr>
          <p:cNvPr id="28" name="Oval 27">
            <a:extLst>
              <a:ext uri="{FF2B5EF4-FFF2-40B4-BE49-F238E27FC236}">
                <a16:creationId xmlns:a16="http://schemas.microsoft.com/office/drawing/2014/main" id="{01CD970F-ED1B-BA7A-BE16-63EE48F0F8E1}"/>
              </a:ext>
            </a:extLst>
          </p:cNvPr>
          <p:cNvSpPr/>
          <p:nvPr/>
        </p:nvSpPr>
        <p:spPr>
          <a:xfrm>
            <a:off x="10907145" y="871563"/>
            <a:ext cx="252901" cy="23969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65000"/>
                  <a:lumOff val="35000"/>
                </a:schemeClr>
              </a:solidFill>
            </a:endParaRPr>
          </a:p>
        </p:txBody>
      </p:sp>
      <p:sp>
        <p:nvSpPr>
          <p:cNvPr id="14" name="TextBox 13">
            <a:extLst>
              <a:ext uri="{FF2B5EF4-FFF2-40B4-BE49-F238E27FC236}">
                <a16:creationId xmlns:a16="http://schemas.microsoft.com/office/drawing/2014/main" id="{A694BBF5-8783-FDD9-6CD4-401938AE5373}"/>
              </a:ext>
            </a:extLst>
          </p:cNvPr>
          <p:cNvSpPr txBox="1"/>
          <p:nvPr/>
        </p:nvSpPr>
        <p:spPr>
          <a:xfrm>
            <a:off x="6994336" y="6488748"/>
            <a:ext cx="4098053" cy="307777"/>
          </a:xfrm>
          <a:prstGeom prst="rect">
            <a:avLst/>
          </a:prstGeom>
          <a:noFill/>
        </p:spPr>
        <p:txBody>
          <a:bodyPr wrap="square">
            <a:spAutoFit/>
          </a:bodyPr>
          <a:lstStyle/>
          <a:p>
            <a:pPr marL="16932" indent="0" algn="just">
              <a:buSzPts val="120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Reusable Assets/Solutions/Opportunities: </a:t>
            </a:r>
            <a:r>
              <a:rPr lang="en-IN" sz="1400" dirty="0">
                <a:latin typeface="Times New Roman" panose="02020603050405020304" pitchFamily="18" charset="0"/>
                <a:cs typeface="Times New Roman" panose="02020603050405020304" pitchFamily="18" charset="0"/>
              </a:rPr>
              <a:t>Yes</a:t>
            </a:r>
          </a:p>
        </p:txBody>
      </p:sp>
      <p:sp>
        <p:nvSpPr>
          <p:cNvPr id="19" name="TextBox 18">
            <a:extLst>
              <a:ext uri="{FF2B5EF4-FFF2-40B4-BE49-F238E27FC236}">
                <a16:creationId xmlns:a16="http://schemas.microsoft.com/office/drawing/2014/main" id="{A7FEBD2D-0CCC-6089-4FCF-F123AAF2C41D}"/>
              </a:ext>
            </a:extLst>
          </p:cNvPr>
          <p:cNvSpPr txBox="1"/>
          <p:nvPr/>
        </p:nvSpPr>
        <p:spPr>
          <a:xfrm>
            <a:off x="570587" y="6421563"/>
            <a:ext cx="5350712" cy="307777"/>
          </a:xfrm>
          <a:prstGeom prst="rect">
            <a:avLst/>
          </a:prstGeom>
          <a:noFill/>
        </p:spPr>
        <p:txBody>
          <a:bodyPr wrap="square">
            <a:spAutoFit/>
          </a:bodyPr>
          <a:lstStyle/>
          <a:p>
            <a:pPr marL="16932" indent="0" algn="just">
              <a:buSzPts val="1200"/>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sym typeface="Arial"/>
              </a:rPr>
              <a:t>Upcoming</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Milestone:</a:t>
            </a:r>
            <a:r>
              <a:rPr lang="en-US" sz="140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Completing the decision-making engine.</a:t>
            </a:r>
            <a:endParaRPr lang="en-US" sz="1400" b="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510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387</TotalTime>
  <Words>414</Words>
  <Application>Microsoft Office PowerPoint</Application>
  <PresentationFormat>Widescreen</PresentationFormat>
  <Paragraphs>31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Montserrat</vt:lpstr>
      <vt:lpstr>Times New Roman</vt:lpstr>
      <vt:lpstr>Wingdings</vt:lpstr>
      <vt:lpstr>Office Theme</vt:lpstr>
      <vt:lpstr>   PROJECT Name  : Intelligent Bank Statement Processing Framework for  Explainable Financial Insights and Credit Decisioning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Seshan</dc:creator>
  <cp:lastModifiedBy>Om Gawde</cp:lastModifiedBy>
  <cp:revision>15</cp:revision>
  <dcterms:created xsi:type="dcterms:W3CDTF">2026-01-12T08:43:54Z</dcterms:created>
  <dcterms:modified xsi:type="dcterms:W3CDTF">2026-09-01T05:34:11Z</dcterms:modified>
</cp:coreProperties>
</file>