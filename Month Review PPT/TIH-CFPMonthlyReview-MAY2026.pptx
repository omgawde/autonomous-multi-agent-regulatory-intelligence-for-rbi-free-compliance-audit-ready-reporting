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398"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9222"/>
    <a:srgbClr val="FF0000"/>
    <a:srgbClr val="FF6D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1"/>
    <p:restoredTop sz="94653"/>
  </p:normalViewPr>
  <p:slideViewPr>
    <p:cSldViewPr snapToGrid="0">
      <p:cViewPr>
        <p:scale>
          <a:sx n="75" d="100"/>
          <a:sy n="75" d="100"/>
        </p:scale>
        <p:origin x="883"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E48DF5-B245-4D2C-AD81-B412E63B0E60}" type="datetimeFigureOut">
              <a:rPr lang="en-IN" smtClean="0"/>
              <a:t>25-05-2026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36530B-8C42-4E09-8DB6-CCE51DF0BE79}" type="slidenum">
              <a:rPr lang="en-IN" smtClean="0"/>
              <a:t>‹#›</a:t>
            </a:fld>
            <a:endParaRPr lang="en-IN"/>
          </a:p>
        </p:txBody>
      </p:sp>
    </p:spTree>
    <p:extLst>
      <p:ext uri="{BB962C8B-B14F-4D97-AF65-F5344CB8AC3E}">
        <p14:creationId xmlns:p14="http://schemas.microsoft.com/office/powerpoint/2010/main" val="2759341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a:extLst>
            <a:ext uri="{FF2B5EF4-FFF2-40B4-BE49-F238E27FC236}">
              <a16:creationId xmlns:a16="http://schemas.microsoft.com/office/drawing/2014/main" id="{074D1532-29CB-2100-1A32-5724D2DF3CCA}"/>
            </a:ext>
          </a:extLst>
        </p:cNvPr>
        <p:cNvGrpSpPr/>
        <p:nvPr/>
      </p:nvGrpSpPr>
      <p:grpSpPr>
        <a:xfrm>
          <a:off x="0" y="0"/>
          <a:ext cx="0" cy="0"/>
          <a:chOff x="0" y="0"/>
          <a:chExt cx="0" cy="0"/>
        </a:xfrm>
      </p:grpSpPr>
      <p:sp>
        <p:nvSpPr>
          <p:cNvPr id="458" name="Google Shape;458;g36bc22d55b3_1_17:notes">
            <a:extLst>
              <a:ext uri="{FF2B5EF4-FFF2-40B4-BE49-F238E27FC236}">
                <a16:creationId xmlns:a16="http://schemas.microsoft.com/office/drawing/2014/main" id="{54B63782-63EE-B35D-350F-5D0613F797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9" name="Google Shape;459;g36bc22d55b3_1_17:notes">
            <a:extLst>
              <a:ext uri="{FF2B5EF4-FFF2-40B4-BE49-F238E27FC236}">
                <a16:creationId xmlns:a16="http://schemas.microsoft.com/office/drawing/2014/main" id="{4A85BB75-C374-613F-90FC-0183D922EC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GB"/>
          </a:p>
        </p:txBody>
      </p:sp>
    </p:spTree>
    <p:extLst>
      <p:ext uri="{BB962C8B-B14F-4D97-AF65-F5344CB8AC3E}">
        <p14:creationId xmlns:p14="http://schemas.microsoft.com/office/powerpoint/2010/main" val="1239028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826FE-78FB-68F7-BB27-71ED9C15AA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783A7B-8A6C-899E-8E9E-4349702C17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70C1D1-FBB2-E4AE-35FD-3E8296113DE9}"/>
              </a:ext>
            </a:extLst>
          </p:cNvPr>
          <p:cNvSpPr>
            <a:spLocks noGrp="1"/>
          </p:cNvSpPr>
          <p:nvPr>
            <p:ph type="dt" sz="half" idx="10"/>
          </p:nvPr>
        </p:nvSpPr>
        <p:spPr/>
        <p:txBody>
          <a:bodyPr/>
          <a:lstStyle/>
          <a:p>
            <a:fld id="{26680183-0F1C-4203-ABFD-88B7EF358E90}" type="datetimeFigureOut">
              <a:rPr lang="en-IN" smtClean="0"/>
              <a:t>25-05-2026</a:t>
            </a:fld>
            <a:endParaRPr lang="en-IN"/>
          </a:p>
        </p:txBody>
      </p:sp>
      <p:sp>
        <p:nvSpPr>
          <p:cNvPr id="5" name="Footer Placeholder 4">
            <a:extLst>
              <a:ext uri="{FF2B5EF4-FFF2-40B4-BE49-F238E27FC236}">
                <a16:creationId xmlns:a16="http://schemas.microsoft.com/office/drawing/2014/main" id="{A48D9931-F016-1043-D9CC-47A15B5765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793EDB-F1D0-BEEC-938C-6F8794586073}"/>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3794025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E057A-EE63-C8C6-891C-960B895622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4984F8-D162-B89D-D629-742CC04BA7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B84BBE-1CDC-6EC1-3827-B422B0EE07BF}"/>
              </a:ext>
            </a:extLst>
          </p:cNvPr>
          <p:cNvSpPr>
            <a:spLocks noGrp="1"/>
          </p:cNvSpPr>
          <p:nvPr>
            <p:ph type="dt" sz="half" idx="10"/>
          </p:nvPr>
        </p:nvSpPr>
        <p:spPr/>
        <p:txBody>
          <a:bodyPr/>
          <a:lstStyle/>
          <a:p>
            <a:fld id="{26680183-0F1C-4203-ABFD-88B7EF358E90}" type="datetimeFigureOut">
              <a:rPr lang="en-IN" smtClean="0"/>
              <a:t>25-05-2026</a:t>
            </a:fld>
            <a:endParaRPr lang="en-IN"/>
          </a:p>
        </p:txBody>
      </p:sp>
      <p:sp>
        <p:nvSpPr>
          <p:cNvPr id="5" name="Footer Placeholder 4">
            <a:extLst>
              <a:ext uri="{FF2B5EF4-FFF2-40B4-BE49-F238E27FC236}">
                <a16:creationId xmlns:a16="http://schemas.microsoft.com/office/drawing/2014/main" id="{C911C923-12F1-D37A-32A6-34CCD51056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382B86-A2C2-AD20-BD82-16DA9ED9E0F1}"/>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924414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FD291-6D81-60B5-86C9-B2E58DD185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355B0B7-11C9-243A-8FD5-58331E8EE9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7D4B6A-224F-8C90-4074-1D5DB7A7EEB7}"/>
              </a:ext>
            </a:extLst>
          </p:cNvPr>
          <p:cNvSpPr>
            <a:spLocks noGrp="1"/>
          </p:cNvSpPr>
          <p:nvPr>
            <p:ph type="dt" sz="half" idx="10"/>
          </p:nvPr>
        </p:nvSpPr>
        <p:spPr/>
        <p:txBody>
          <a:bodyPr/>
          <a:lstStyle/>
          <a:p>
            <a:fld id="{26680183-0F1C-4203-ABFD-88B7EF358E90}" type="datetimeFigureOut">
              <a:rPr lang="en-IN" smtClean="0"/>
              <a:t>25-05-2026</a:t>
            </a:fld>
            <a:endParaRPr lang="en-IN"/>
          </a:p>
        </p:txBody>
      </p:sp>
      <p:sp>
        <p:nvSpPr>
          <p:cNvPr id="5" name="Footer Placeholder 4">
            <a:extLst>
              <a:ext uri="{FF2B5EF4-FFF2-40B4-BE49-F238E27FC236}">
                <a16:creationId xmlns:a16="http://schemas.microsoft.com/office/drawing/2014/main" id="{3E3410F0-55A3-5004-E5C5-B48303A14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2499B7-41A4-B1A7-B1EF-9A63621C7D1D}"/>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4021510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E5688-A7C9-40C9-6EE2-DB0E29D718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6D07DF-F37A-3214-9822-7CE33E9E6D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7FC265-52E8-849D-4476-A24756CF2D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E794CD5-2370-97FB-5C50-76CDC3CC5493}"/>
              </a:ext>
            </a:extLst>
          </p:cNvPr>
          <p:cNvSpPr>
            <a:spLocks noGrp="1"/>
          </p:cNvSpPr>
          <p:nvPr>
            <p:ph type="dt" sz="half" idx="10"/>
          </p:nvPr>
        </p:nvSpPr>
        <p:spPr/>
        <p:txBody>
          <a:bodyPr/>
          <a:lstStyle/>
          <a:p>
            <a:fld id="{26680183-0F1C-4203-ABFD-88B7EF358E90}" type="datetimeFigureOut">
              <a:rPr lang="en-IN" smtClean="0"/>
              <a:t>25-05-2026</a:t>
            </a:fld>
            <a:endParaRPr lang="en-IN"/>
          </a:p>
        </p:txBody>
      </p:sp>
      <p:sp>
        <p:nvSpPr>
          <p:cNvPr id="6" name="Footer Placeholder 5">
            <a:extLst>
              <a:ext uri="{FF2B5EF4-FFF2-40B4-BE49-F238E27FC236}">
                <a16:creationId xmlns:a16="http://schemas.microsoft.com/office/drawing/2014/main" id="{AD677205-C41E-F163-7D1E-36EF804752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105F1D-604D-F829-4351-C16A030A70B7}"/>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645759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0A5C1-1C93-5510-5258-25ED4C74B4F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E2FBC5-D3A9-62F6-E5F4-927192795E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77E751-E329-529B-9FC7-DF90563EF6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15CCF90-5BA3-8FE8-C097-03C8A3274C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CDA40E-413D-6ED5-A48E-8CFB7C1E84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24960E4-B7E1-104F-53FD-1BFEC002393D}"/>
              </a:ext>
            </a:extLst>
          </p:cNvPr>
          <p:cNvSpPr>
            <a:spLocks noGrp="1"/>
          </p:cNvSpPr>
          <p:nvPr>
            <p:ph type="dt" sz="half" idx="10"/>
          </p:nvPr>
        </p:nvSpPr>
        <p:spPr/>
        <p:txBody>
          <a:bodyPr/>
          <a:lstStyle/>
          <a:p>
            <a:fld id="{26680183-0F1C-4203-ABFD-88B7EF358E90}" type="datetimeFigureOut">
              <a:rPr lang="en-IN" smtClean="0"/>
              <a:t>25-05-2026</a:t>
            </a:fld>
            <a:endParaRPr lang="en-IN"/>
          </a:p>
        </p:txBody>
      </p:sp>
      <p:sp>
        <p:nvSpPr>
          <p:cNvPr id="8" name="Footer Placeholder 7">
            <a:extLst>
              <a:ext uri="{FF2B5EF4-FFF2-40B4-BE49-F238E27FC236}">
                <a16:creationId xmlns:a16="http://schemas.microsoft.com/office/drawing/2014/main" id="{1E4EC1A5-8345-79BA-C913-5BB94F1D62E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E500CEC-D903-5325-8312-89B469A4C290}"/>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3099972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3804-4587-EF06-3EAC-5B95150D921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A1B59BD-5E60-6FEF-42E6-3A1750FADBFF}"/>
              </a:ext>
            </a:extLst>
          </p:cNvPr>
          <p:cNvSpPr>
            <a:spLocks noGrp="1"/>
          </p:cNvSpPr>
          <p:nvPr>
            <p:ph type="dt" sz="half" idx="10"/>
          </p:nvPr>
        </p:nvSpPr>
        <p:spPr/>
        <p:txBody>
          <a:bodyPr/>
          <a:lstStyle/>
          <a:p>
            <a:fld id="{26680183-0F1C-4203-ABFD-88B7EF358E90}" type="datetimeFigureOut">
              <a:rPr lang="en-IN" smtClean="0"/>
              <a:t>25-05-2026</a:t>
            </a:fld>
            <a:endParaRPr lang="en-IN"/>
          </a:p>
        </p:txBody>
      </p:sp>
      <p:sp>
        <p:nvSpPr>
          <p:cNvPr id="4" name="Footer Placeholder 3">
            <a:extLst>
              <a:ext uri="{FF2B5EF4-FFF2-40B4-BE49-F238E27FC236}">
                <a16:creationId xmlns:a16="http://schemas.microsoft.com/office/drawing/2014/main" id="{F98E39D8-8E41-BC4D-CD90-EF3F68EF5F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670923A-7A18-91C2-0573-9448AACB85C4}"/>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806940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235EE2-75F3-7675-397C-2ECFAE7CE8F1}"/>
              </a:ext>
            </a:extLst>
          </p:cNvPr>
          <p:cNvSpPr>
            <a:spLocks noGrp="1"/>
          </p:cNvSpPr>
          <p:nvPr>
            <p:ph type="dt" sz="half" idx="10"/>
          </p:nvPr>
        </p:nvSpPr>
        <p:spPr/>
        <p:txBody>
          <a:bodyPr/>
          <a:lstStyle/>
          <a:p>
            <a:fld id="{26680183-0F1C-4203-ABFD-88B7EF358E90}" type="datetimeFigureOut">
              <a:rPr lang="en-IN" smtClean="0"/>
              <a:t>25-05-2026</a:t>
            </a:fld>
            <a:endParaRPr lang="en-IN"/>
          </a:p>
        </p:txBody>
      </p:sp>
      <p:sp>
        <p:nvSpPr>
          <p:cNvPr id="3" name="Footer Placeholder 2">
            <a:extLst>
              <a:ext uri="{FF2B5EF4-FFF2-40B4-BE49-F238E27FC236}">
                <a16:creationId xmlns:a16="http://schemas.microsoft.com/office/drawing/2014/main" id="{420568D1-F5E7-466D-C0D2-1CC8BCBFB7B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4539D1C-2C5B-52B5-5C58-7B759A0960BC}"/>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3016924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08DE9-BDD7-4FEF-21FF-C39EC2DF16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34AF8B9-1E82-7C84-0D7A-6EB41ED396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B4AF78D-754B-CC4F-C151-7A0975FFA5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344CA3-9A5E-BD45-3767-1C605041F896}"/>
              </a:ext>
            </a:extLst>
          </p:cNvPr>
          <p:cNvSpPr>
            <a:spLocks noGrp="1"/>
          </p:cNvSpPr>
          <p:nvPr>
            <p:ph type="dt" sz="half" idx="10"/>
          </p:nvPr>
        </p:nvSpPr>
        <p:spPr/>
        <p:txBody>
          <a:bodyPr/>
          <a:lstStyle/>
          <a:p>
            <a:fld id="{26680183-0F1C-4203-ABFD-88B7EF358E90}" type="datetimeFigureOut">
              <a:rPr lang="en-IN" smtClean="0"/>
              <a:t>25-05-2026</a:t>
            </a:fld>
            <a:endParaRPr lang="en-IN"/>
          </a:p>
        </p:txBody>
      </p:sp>
      <p:sp>
        <p:nvSpPr>
          <p:cNvPr id="6" name="Footer Placeholder 5">
            <a:extLst>
              <a:ext uri="{FF2B5EF4-FFF2-40B4-BE49-F238E27FC236}">
                <a16:creationId xmlns:a16="http://schemas.microsoft.com/office/drawing/2014/main" id="{EDE2A7F6-8CB8-988C-CB23-416D5B24C8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96C537-9C0D-1130-CBBB-9B7AEEA2B990}"/>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2308848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75356-25F5-DDCB-5AAC-FBC7A3E6C9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0159FBE-EBE8-0671-359E-6708911177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3A2DBD6-37A5-91E0-CA2E-79364E5B1A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37073A-D375-55CC-33E0-83BB1EBF4C31}"/>
              </a:ext>
            </a:extLst>
          </p:cNvPr>
          <p:cNvSpPr>
            <a:spLocks noGrp="1"/>
          </p:cNvSpPr>
          <p:nvPr>
            <p:ph type="dt" sz="half" idx="10"/>
          </p:nvPr>
        </p:nvSpPr>
        <p:spPr/>
        <p:txBody>
          <a:bodyPr/>
          <a:lstStyle/>
          <a:p>
            <a:fld id="{26680183-0F1C-4203-ABFD-88B7EF358E90}" type="datetimeFigureOut">
              <a:rPr lang="en-IN" smtClean="0"/>
              <a:t>25-05-2026</a:t>
            </a:fld>
            <a:endParaRPr lang="en-IN"/>
          </a:p>
        </p:txBody>
      </p:sp>
      <p:sp>
        <p:nvSpPr>
          <p:cNvPr id="6" name="Footer Placeholder 5">
            <a:extLst>
              <a:ext uri="{FF2B5EF4-FFF2-40B4-BE49-F238E27FC236}">
                <a16:creationId xmlns:a16="http://schemas.microsoft.com/office/drawing/2014/main" id="{590B2974-4BE5-4243-54D1-04F5F0D759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DB7D87-3646-60B9-8EEB-4CAEB3E9857D}"/>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205652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46DB7-CB29-A2E1-614B-31D3AC17B2D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CAA2054-B9E3-F53F-2762-9112315367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A512DD-B468-E166-8012-2291BF4B08E5}"/>
              </a:ext>
            </a:extLst>
          </p:cNvPr>
          <p:cNvSpPr>
            <a:spLocks noGrp="1"/>
          </p:cNvSpPr>
          <p:nvPr>
            <p:ph type="dt" sz="half" idx="10"/>
          </p:nvPr>
        </p:nvSpPr>
        <p:spPr/>
        <p:txBody>
          <a:bodyPr/>
          <a:lstStyle/>
          <a:p>
            <a:fld id="{26680183-0F1C-4203-ABFD-88B7EF358E90}" type="datetimeFigureOut">
              <a:rPr lang="en-IN" smtClean="0"/>
              <a:t>25-05-2026</a:t>
            </a:fld>
            <a:endParaRPr lang="en-IN"/>
          </a:p>
        </p:txBody>
      </p:sp>
      <p:sp>
        <p:nvSpPr>
          <p:cNvPr id="5" name="Footer Placeholder 4">
            <a:extLst>
              <a:ext uri="{FF2B5EF4-FFF2-40B4-BE49-F238E27FC236}">
                <a16:creationId xmlns:a16="http://schemas.microsoft.com/office/drawing/2014/main" id="{2A0DAEAA-1006-9903-AAB9-73F7AD528F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93DB16-BFD1-4F6A-E16A-46DF33531F94}"/>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2692104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C5A514-D799-9AAF-D6A5-3F39AA7360B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E31825-2684-77D4-C1F3-9DB63C3636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1034F9-2CB7-8B96-E47F-47C03D472086}"/>
              </a:ext>
            </a:extLst>
          </p:cNvPr>
          <p:cNvSpPr>
            <a:spLocks noGrp="1"/>
          </p:cNvSpPr>
          <p:nvPr>
            <p:ph type="dt" sz="half" idx="10"/>
          </p:nvPr>
        </p:nvSpPr>
        <p:spPr/>
        <p:txBody>
          <a:bodyPr/>
          <a:lstStyle/>
          <a:p>
            <a:fld id="{26680183-0F1C-4203-ABFD-88B7EF358E90}" type="datetimeFigureOut">
              <a:rPr lang="en-IN" smtClean="0"/>
              <a:t>25-05-2026</a:t>
            </a:fld>
            <a:endParaRPr lang="en-IN"/>
          </a:p>
        </p:txBody>
      </p:sp>
      <p:sp>
        <p:nvSpPr>
          <p:cNvPr id="5" name="Footer Placeholder 4">
            <a:extLst>
              <a:ext uri="{FF2B5EF4-FFF2-40B4-BE49-F238E27FC236}">
                <a16:creationId xmlns:a16="http://schemas.microsoft.com/office/drawing/2014/main" id="{270C02E6-9099-E46A-EFFA-1FBC1113D4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28B0C1-C73F-EEB7-CCF5-B4291E231048}"/>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1086991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82"/>
        <p:cNvGrpSpPr/>
        <p:nvPr/>
      </p:nvGrpSpPr>
      <p:grpSpPr>
        <a:xfrm>
          <a:off x="0" y="0"/>
          <a:ext cx="0" cy="0"/>
          <a:chOff x="0" y="0"/>
          <a:chExt cx="0" cy="0"/>
        </a:xfrm>
      </p:grpSpPr>
      <p:sp>
        <p:nvSpPr>
          <p:cNvPr id="183" name="Google Shape;183;p17"/>
          <p:cNvSpPr/>
          <p:nvPr/>
        </p:nvSpPr>
        <p:spPr>
          <a:xfrm>
            <a:off x="12638620" y="690565"/>
            <a:ext cx="92389" cy="415444"/>
          </a:xfrm>
          <a:prstGeom prst="rect">
            <a:avLst/>
          </a:prstGeom>
          <a:noFill/>
          <a:ln>
            <a:noFill/>
          </a:ln>
        </p:spPr>
        <p:txBody>
          <a:bodyPr spcFirstLastPara="1" wrap="square" lIns="45700" tIns="22833" rIns="45700" bIns="22833"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Arial"/>
              <a:ea typeface="Arial"/>
              <a:cs typeface="Arial"/>
              <a:sym typeface="Arial"/>
            </a:endParaRPr>
          </a:p>
        </p:txBody>
      </p:sp>
      <p:sp>
        <p:nvSpPr>
          <p:cNvPr id="184" name="Google Shape;184;p17"/>
          <p:cNvSpPr txBox="1">
            <a:spLocks noGrp="1"/>
          </p:cNvSpPr>
          <p:nvPr>
            <p:ph type="body" idx="1"/>
          </p:nvPr>
        </p:nvSpPr>
        <p:spPr>
          <a:xfrm>
            <a:off x="438151" y="960439"/>
            <a:ext cx="10671175" cy="4854575"/>
          </a:xfrm>
          <a:prstGeom prst="rect">
            <a:avLst/>
          </a:prstGeom>
          <a:noFill/>
          <a:ln>
            <a:noFill/>
          </a:ln>
        </p:spPr>
        <p:txBody>
          <a:bodyPr spcFirstLastPara="1" wrap="square" lIns="91425" tIns="45700" rIns="91425" bIns="45700" anchor="t" anchorCtr="0">
            <a:noAutofit/>
          </a:bodyPr>
          <a:lstStyle>
            <a:lvl1pPr marL="609585" marR="0" lvl="0" indent="-423323" algn="l" rtl="0">
              <a:lnSpc>
                <a:spcPct val="100000"/>
              </a:lnSpc>
              <a:spcBef>
                <a:spcPts val="0"/>
              </a:spcBef>
              <a:spcAft>
                <a:spcPts val="0"/>
              </a:spcAft>
              <a:buClr>
                <a:srgbClr val="000000"/>
              </a:buClr>
              <a:buSzPts val="1400"/>
              <a:buFont typeface="Arial"/>
              <a:buChar char="•"/>
              <a:defRPr sz="1867" b="0" i="0" u="none" strike="noStrike" cap="none">
                <a:solidFill>
                  <a:srgbClr val="000000"/>
                </a:solidFill>
                <a:latin typeface="Arial"/>
                <a:ea typeface="Arial"/>
                <a:cs typeface="Arial"/>
                <a:sym typeface="Arial"/>
              </a:defRPr>
            </a:lvl1pPr>
            <a:lvl2pPr marL="1219170" marR="0" lvl="1" indent="-423323" algn="l" rtl="0">
              <a:lnSpc>
                <a:spcPct val="100000"/>
              </a:lnSpc>
              <a:spcBef>
                <a:spcPts val="0"/>
              </a:spcBef>
              <a:spcAft>
                <a:spcPts val="0"/>
              </a:spcAft>
              <a:buClr>
                <a:srgbClr val="000000"/>
              </a:buClr>
              <a:buSzPts val="1400"/>
              <a:buFont typeface="Arial"/>
              <a:buChar char="•"/>
              <a:defRPr sz="1867" b="0" i="0" u="none" strike="noStrike" cap="none">
                <a:solidFill>
                  <a:srgbClr val="000000"/>
                </a:solidFill>
                <a:latin typeface="Arial"/>
                <a:ea typeface="Arial"/>
                <a:cs typeface="Arial"/>
                <a:sym typeface="Arial"/>
              </a:defRPr>
            </a:lvl2pPr>
            <a:lvl3pPr marL="1828754" marR="0" lvl="2" indent="-423323" algn="l" rtl="0">
              <a:lnSpc>
                <a:spcPct val="100000"/>
              </a:lnSpc>
              <a:spcBef>
                <a:spcPts val="0"/>
              </a:spcBef>
              <a:spcAft>
                <a:spcPts val="0"/>
              </a:spcAft>
              <a:buClr>
                <a:srgbClr val="000000"/>
              </a:buClr>
              <a:buSzPts val="1400"/>
              <a:buFont typeface="Arial"/>
              <a:buChar char="•"/>
              <a:defRPr sz="1867" b="0" i="0" u="none" strike="noStrike" cap="none">
                <a:solidFill>
                  <a:srgbClr val="000000"/>
                </a:solidFill>
                <a:latin typeface="Arial"/>
                <a:ea typeface="Arial"/>
                <a:cs typeface="Arial"/>
                <a:sym typeface="Arial"/>
              </a:defRPr>
            </a:lvl3pPr>
            <a:lvl4pPr marL="2438339" marR="0" lvl="3" indent="-423323" algn="l" rtl="0">
              <a:lnSpc>
                <a:spcPct val="100000"/>
              </a:lnSpc>
              <a:spcBef>
                <a:spcPts val="0"/>
              </a:spcBef>
              <a:spcAft>
                <a:spcPts val="0"/>
              </a:spcAft>
              <a:buClr>
                <a:srgbClr val="000000"/>
              </a:buClr>
              <a:buSzPts val="1400"/>
              <a:buFont typeface="Arial"/>
              <a:buChar char="•"/>
              <a:defRPr sz="1867" b="0" i="0" u="none" strike="noStrike" cap="none">
                <a:solidFill>
                  <a:srgbClr val="000000"/>
                </a:solidFill>
                <a:latin typeface="Arial"/>
                <a:ea typeface="Arial"/>
                <a:cs typeface="Arial"/>
                <a:sym typeface="Arial"/>
              </a:defRPr>
            </a:lvl4pPr>
            <a:lvl5pPr marL="3047924" marR="0" lvl="4" indent="-423323" algn="l" rtl="0">
              <a:lnSpc>
                <a:spcPct val="100000"/>
              </a:lnSpc>
              <a:spcBef>
                <a:spcPts val="0"/>
              </a:spcBef>
              <a:spcAft>
                <a:spcPts val="0"/>
              </a:spcAft>
              <a:buClr>
                <a:srgbClr val="000000"/>
              </a:buClr>
              <a:buSzPts val="1400"/>
              <a:buFont typeface="Arial"/>
              <a:buChar char="•"/>
              <a:defRPr sz="1867" b="0" i="0" u="none" strike="noStrike" cap="none">
                <a:solidFill>
                  <a:srgbClr val="000000"/>
                </a:solidFill>
                <a:latin typeface="Arial"/>
                <a:ea typeface="Arial"/>
                <a:cs typeface="Arial"/>
                <a:sym typeface="Arial"/>
              </a:defRPr>
            </a:lvl5pPr>
            <a:lvl6pPr marL="3657509" marR="0" lvl="5" indent="-30479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6pPr>
            <a:lvl7pPr marL="4267093" marR="0" lvl="6" indent="-30479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7pPr>
            <a:lvl8pPr marL="4876678" marR="0" lvl="7" indent="-30479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8pPr>
            <a:lvl9pPr marL="5486263" marR="0" lvl="8" indent="-30479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9pPr>
          </a:lstStyle>
          <a:p>
            <a:endParaRPr/>
          </a:p>
        </p:txBody>
      </p:sp>
      <p:sp>
        <p:nvSpPr>
          <p:cNvPr id="185" name="Google Shape;185;p17"/>
          <p:cNvSpPr txBox="1">
            <a:spLocks noGrp="1"/>
          </p:cNvSpPr>
          <p:nvPr>
            <p:ph type="title"/>
          </p:nvPr>
        </p:nvSpPr>
        <p:spPr>
          <a:xfrm>
            <a:off x="1076915" y="98171"/>
            <a:ext cx="10104400" cy="483148"/>
          </a:xfrm>
          <a:prstGeom prst="rect">
            <a:avLst/>
          </a:prstGeom>
          <a:noFill/>
          <a:ln>
            <a:noFill/>
          </a:ln>
        </p:spPr>
        <p:txBody>
          <a:bodyPr spcFirstLastPara="1" wrap="square" lIns="121900" tIns="60950" rIns="121900" bIns="60950" anchor="ctr" anchorCtr="0">
            <a:noAutofit/>
          </a:bodyPr>
          <a:lstStyle>
            <a:lvl1pPr marR="0" lvl="0" algn="l" rtl="0">
              <a:lnSpc>
                <a:spcPct val="100000"/>
              </a:lnSpc>
              <a:spcBef>
                <a:spcPts val="0"/>
              </a:spcBef>
              <a:spcAft>
                <a:spcPts val="0"/>
              </a:spcAft>
              <a:buClr>
                <a:srgbClr val="000000"/>
              </a:buClr>
              <a:buSzPts val="1400"/>
              <a:buFont typeface="Arial"/>
              <a:buNone/>
              <a:defRPr sz="3733" b="1" i="0" u="none" strike="noStrike" cap="none">
                <a:solidFill>
                  <a:srgbClr val="F59222"/>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859610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CA3C0C-7400-CC95-E0D4-9F95CA7B5F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5E6652-08BF-AC52-B867-5DFA87CE12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1B61DA-AFE2-8C7E-FBE9-77CD2BD740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680183-0F1C-4203-ABFD-88B7EF358E90}" type="datetimeFigureOut">
              <a:rPr lang="en-IN" smtClean="0"/>
              <a:t>25-05-2026</a:t>
            </a:fld>
            <a:endParaRPr lang="en-IN"/>
          </a:p>
        </p:txBody>
      </p:sp>
      <p:sp>
        <p:nvSpPr>
          <p:cNvPr id="5" name="Footer Placeholder 4">
            <a:extLst>
              <a:ext uri="{FF2B5EF4-FFF2-40B4-BE49-F238E27FC236}">
                <a16:creationId xmlns:a16="http://schemas.microsoft.com/office/drawing/2014/main" id="{24282C21-95D7-1A8D-C398-A44E738E58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C0B9DC2-CB8C-9F61-C3CA-A4171B8C70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B64034-CE3F-401B-808B-96FFEA73BA1A}" type="slidenum">
              <a:rPr lang="en-IN" smtClean="0"/>
              <a:t>‹#›</a:t>
            </a:fld>
            <a:endParaRPr lang="en-IN"/>
          </a:p>
        </p:txBody>
      </p:sp>
      <p:pic>
        <p:nvPicPr>
          <p:cNvPr id="7" name="Picture 6" descr="A blue and orange logo&#10;&#10;AI-generated content may be incorrect.">
            <a:extLst>
              <a:ext uri="{FF2B5EF4-FFF2-40B4-BE49-F238E27FC236}">
                <a16:creationId xmlns:a16="http://schemas.microsoft.com/office/drawing/2014/main" id="{FD1294E3-97F2-B2FD-B4E9-0D4AE122345C}"/>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479607" y="7817"/>
            <a:ext cx="685680" cy="702610"/>
          </a:xfrm>
          <a:prstGeom prst="rect">
            <a:avLst/>
          </a:prstGeom>
        </p:spPr>
      </p:pic>
    </p:spTree>
    <p:extLst>
      <p:ext uri="{BB962C8B-B14F-4D97-AF65-F5344CB8AC3E}">
        <p14:creationId xmlns:p14="http://schemas.microsoft.com/office/powerpoint/2010/main" val="213747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hyperlink" Target="https://github.com/OmGawde/Intelligent-Bank-Statement-Processing-Framework-for-Explainable-FinancialInsights-and-CreditDecision"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0">
          <a:extLst>
            <a:ext uri="{FF2B5EF4-FFF2-40B4-BE49-F238E27FC236}">
              <a16:creationId xmlns:a16="http://schemas.microsoft.com/office/drawing/2014/main" id="{5E5135EC-96A3-DE02-5807-A5D0C933739D}"/>
            </a:ext>
          </a:extLst>
        </p:cNvPr>
        <p:cNvGrpSpPr/>
        <p:nvPr/>
      </p:nvGrpSpPr>
      <p:grpSpPr>
        <a:xfrm>
          <a:off x="0" y="0"/>
          <a:ext cx="0" cy="0"/>
          <a:chOff x="0" y="0"/>
          <a:chExt cx="0" cy="0"/>
        </a:xfrm>
      </p:grpSpPr>
      <p:sp>
        <p:nvSpPr>
          <p:cNvPr id="26" name="Google Shape;470;p30">
            <a:extLst>
              <a:ext uri="{FF2B5EF4-FFF2-40B4-BE49-F238E27FC236}">
                <a16:creationId xmlns:a16="http://schemas.microsoft.com/office/drawing/2014/main" id="{2BD9EF78-08AC-DF34-C9CF-664880451D48}"/>
              </a:ext>
            </a:extLst>
          </p:cNvPr>
          <p:cNvSpPr txBox="1"/>
          <p:nvPr/>
        </p:nvSpPr>
        <p:spPr>
          <a:xfrm>
            <a:off x="-74273" y="746626"/>
            <a:ext cx="12192000" cy="492402"/>
          </a:xfrm>
          <a:prstGeom prst="rect">
            <a:avLst/>
          </a:prstGeom>
          <a:noFill/>
          <a:ln>
            <a:noFill/>
          </a:ln>
        </p:spPr>
        <p:txBody>
          <a:bodyPr spcFirstLastPara="1" wrap="square" lIns="121900" tIns="121900" rIns="121900" bIns="121900" anchor="t" anchorCtr="0">
            <a:spAutoFit/>
          </a:bodyPr>
          <a:lstStyle/>
          <a:p>
            <a:pPr algn="ctr">
              <a:buSzPts val="1200"/>
            </a:pPr>
            <a:r>
              <a:rPr lang="en-US" sz="1600" b="1" dirty="0">
                <a:solidFill>
                  <a:schemeClr val="tx2">
                    <a:lumMod val="75000"/>
                    <a:lumOff val="25000"/>
                  </a:schemeClr>
                </a:solidFill>
                <a:latin typeface="Times New Roman" panose="02020603050405020304" pitchFamily="18" charset="0"/>
                <a:ea typeface="Arial"/>
                <a:cs typeface="Times New Roman" panose="02020603050405020304" pitchFamily="18" charset="0"/>
                <a:sym typeface="Arial"/>
              </a:rPr>
              <a:t>Starting TRL: </a:t>
            </a:r>
            <a:r>
              <a:rPr lang="en-US" sz="1600" b="1" dirty="0">
                <a:latin typeface="Times New Roman" panose="02020603050405020304" pitchFamily="18" charset="0"/>
                <a:cs typeface="Times New Roman" panose="02020603050405020304" pitchFamily="18" charset="0"/>
                <a:sym typeface="Arial"/>
              </a:rPr>
              <a:t>#1 (</a:t>
            </a:r>
            <a:r>
              <a:rPr lang="en-US" sz="1600" b="1" dirty="0">
                <a:solidFill>
                  <a:schemeClr val="tx1">
                    <a:lumMod val="75000"/>
                    <a:lumOff val="25000"/>
                  </a:schemeClr>
                </a:solidFill>
                <a:latin typeface="Times New Roman"/>
                <a:cs typeface="Times New Roman"/>
                <a:sym typeface="Arial"/>
              </a:rPr>
              <a:t>April-2026)</a:t>
            </a:r>
            <a:r>
              <a:rPr lang="en-US" sz="1600" b="1" dirty="0">
                <a:latin typeface="Times New Roman" panose="02020603050405020304" pitchFamily="18" charset="0"/>
                <a:cs typeface="Times New Roman" panose="02020603050405020304" pitchFamily="18" charset="0"/>
                <a:sym typeface="Arial"/>
              </a:rPr>
              <a:t> </a:t>
            </a:r>
            <a:r>
              <a:rPr lang="en-US" sz="1600" b="1" dirty="0">
                <a:latin typeface="Times New Roman" panose="02020603050405020304" pitchFamily="18" charset="0"/>
                <a:cs typeface="Times New Roman" panose="02020603050405020304" pitchFamily="18" charset="0"/>
              </a:rPr>
              <a:t>|| </a:t>
            </a:r>
            <a:r>
              <a:rPr lang="en-US" sz="1600" b="1" dirty="0">
                <a:solidFill>
                  <a:schemeClr val="tx2">
                    <a:lumMod val="75000"/>
                    <a:lumOff val="25000"/>
                  </a:schemeClr>
                </a:solidFill>
                <a:latin typeface="Times New Roman" panose="02020603050405020304" pitchFamily="18" charset="0"/>
                <a:ea typeface="Arial"/>
                <a:cs typeface="Times New Roman" panose="02020603050405020304" pitchFamily="18" charset="0"/>
                <a:sym typeface="Arial"/>
              </a:rPr>
              <a:t>Current TRL: </a:t>
            </a:r>
            <a:r>
              <a:rPr lang="en-US" sz="1600" b="1" dirty="0">
                <a:latin typeface="Times New Roman" panose="02020603050405020304" pitchFamily="18" charset="0"/>
                <a:cs typeface="Times New Roman" panose="02020603050405020304" pitchFamily="18" charset="0"/>
                <a:sym typeface="Arial"/>
              </a:rPr>
              <a:t>#1 </a:t>
            </a:r>
            <a:r>
              <a:rPr lang="en-US" sz="1600" b="1" dirty="0">
                <a:latin typeface="Times New Roman" panose="02020603050405020304" pitchFamily="18" charset="0"/>
                <a:cs typeface="Times New Roman" panose="02020603050405020304" pitchFamily="18" charset="0"/>
              </a:rPr>
              <a:t>|| </a:t>
            </a:r>
            <a:r>
              <a:rPr lang="en-US" sz="1600" b="1" dirty="0">
                <a:solidFill>
                  <a:schemeClr val="tx2">
                    <a:lumMod val="75000"/>
                    <a:lumOff val="25000"/>
                  </a:schemeClr>
                </a:solidFill>
                <a:latin typeface="Times New Roman" panose="02020603050405020304" pitchFamily="18" charset="0"/>
                <a:ea typeface="Arial"/>
                <a:cs typeface="Times New Roman" panose="02020603050405020304" pitchFamily="18" charset="0"/>
                <a:sym typeface="Arial"/>
              </a:rPr>
              <a:t>Target TRL: </a:t>
            </a:r>
            <a:r>
              <a:rPr lang="en-US" sz="1600" b="1" dirty="0">
                <a:latin typeface="Times New Roman" panose="02020603050405020304" pitchFamily="18" charset="0"/>
                <a:cs typeface="Times New Roman" panose="02020603050405020304" pitchFamily="18" charset="0"/>
                <a:sym typeface="Arial"/>
              </a:rPr>
              <a:t>#6 </a:t>
            </a:r>
            <a:r>
              <a:rPr lang="en-US" sz="1600" b="1" dirty="0">
                <a:solidFill>
                  <a:schemeClr val="tx1">
                    <a:lumMod val="75000"/>
                    <a:lumOff val="25000"/>
                  </a:schemeClr>
                </a:solidFill>
                <a:latin typeface="Times New Roman"/>
                <a:cs typeface="Times New Roman"/>
                <a:sym typeface="Arial"/>
              </a:rPr>
              <a:t>(December-2026)</a:t>
            </a:r>
            <a:r>
              <a:rPr lang="en-US" sz="1600" b="1" dirty="0">
                <a:latin typeface="Times New Roman" panose="02020603050405020304" pitchFamily="18" charset="0"/>
                <a:cs typeface="Times New Roman" panose="02020603050405020304" pitchFamily="18" charset="0"/>
                <a:sym typeface="Arial"/>
              </a:rPr>
              <a:t> || </a:t>
            </a:r>
            <a:r>
              <a:rPr lang="en-US" sz="1600" b="1" dirty="0">
                <a:solidFill>
                  <a:schemeClr val="tx2">
                    <a:lumMod val="75000"/>
                    <a:lumOff val="25000"/>
                  </a:schemeClr>
                </a:solidFill>
                <a:latin typeface="Times New Roman" panose="02020603050405020304" pitchFamily="18" charset="0"/>
                <a:ea typeface="Arial"/>
                <a:cs typeface="Times New Roman" panose="02020603050405020304" pitchFamily="18" charset="0"/>
                <a:sym typeface="Arial"/>
              </a:rPr>
              <a:t>Overall Project Status: </a:t>
            </a:r>
            <a:endParaRPr lang="en-US" sz="1600" b="1"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461" name="Google Shape;461;p30">
            <a:extLst>
              <a:ext uri="{FF2B5EF4-FFF2-40B4-BE49-F238E27FC236}">
                <a16:creationId xmlns:a16="http://schemas.microsoft.com/office/drawing/2014/main" id="{D5C24C84-18DD-91EA-F595-C6EA5B3DE056}"/>
              </a:ext>
            </a:extLst>
          </p:cNvPr>
          <p:cNvSpPr txBox="1">
            <a:spLocks noGrp="1"/>
          </p:cNvSpPr>
          <p:nvPr>
            <p:ph type="title"/>
          </p:nvPr>
        </p:nvSpPr>
        <p:spPr>
          <a:xfrm>
            <a:off x="-619364" y="3523"/>
            <a:ext cx="12192000" cy="483200"/>
          </a:xfrm>
          <a:prstGeom prst="rect">
            <a:avLst/>
          </a:prstGeom>
          <a:noFill/>
          <a:ln>
            <a:noFill/>
          </a:ln>
        </p:spPr>
        <p:txBody>
          <a:bodyPr spcFirstLastPara="1" vert="horz" wrap="square" lIns="162533" tIns="81267" rIns="162533" bIns="81267" rtlCol="0" anchor="ctr" anchorCtr="0">
            <a:noAutofit/>
          </a:bodyPr>
          <a:lstStyle/>
          <a:p>
            <a:pPr algn="ctr"/>
            <a:r>
              <a:rPr lang="en-US" sz="1600" dirty="0">
                <a:solidFill>
                  <a:srgbClr val="002060"/>
                </a:solidFill>
                <a:latin typeface="Times New Roman" panose="02020603050405020304" pitchFamily="18" charset="0"/>
                <a:cs typeface="Times New Roman" panose="02020603050405020304" pitchFamily="18" charset="0"/>
              </a:rPr>
              <a:t> </a:t>
            </a:r>
            <a:br>
              <a:rPr lang="en-US" sz="1600" dirty="0">
                <a:solidFill>
                  <a:srgbClr val="002060"/>
                </a:solidFill>
                <a:latin typeface="Times New Roman" panose="02020603050405020304" pitchFamily="18" charset="0"/>
                <a:cs typeface="Times New Roman" panose="02020603050405020304" pitchFamily="18" charset="0"/>
              </a:rPr>
            </a:br>
            <a:br>
              <a:rPr lang="en-US" sz="1600" dirty="0">
                <a:solidFill>
                  <a:schemeClr val="tx2">
                    <a:lumMod val="50000"/>
                    <a:lumOff val="50000"/>
                  </a:schemeClr>
                </a:solidFill>
                <a:latin typeface="Times New Roman" panose="02020603050405020304" pitchFamily="18" charset="0"/>
                <a:cs typeface="Times New Roman" panose="02020603050405020304" pitchFamily="18" charset="0"/>
              </a:rPr>
            </a:br>
            <a:r>
              <a:rPr lang="en-US" sz="1600" dirty="0">
                <a:solidFill>
                  <a:schemeClr val="tx2">
                    <a:lumMod val="75000"/>
                    <a:lumOff val="25000"/>
                  </a:schemeClr>
                </a:solidFill>
                <a:latin typeface="Times New Roman" panose="02020603050405020304" pitchFamily="18" charset="0"/>
                <a:cs typeface="Times New Roman" panose="02020603050405020304" pitchFamily="18" charset="0"/>
              </a:rPr>
              <a:t>PROJECT Name  : </a:t>
            </a:r>
            <a:r>
              <a:rPr lang="en-US" sz="1600" dirty="0">
                <a:latin typeface="Times New Roman" panose="02020603050405020304" pitchFamily="18" charset="0"/>
                <a:cs typeface="Times New Roman" panose="02020603050405020304" pitchFamily="18" charset="0"/>
              </a:rPr>
              <a:t>Intelligent Bank Statement Processing Framework for </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Explainable Financial Insights and Credit Decisioning</a:t>
            </a:r>
            <a:br>
              <a:rPr lang="en-IN" sz="1600" dirty="0">
                <a:solidFill>
                  <a:schemeClr val="tx2">
                    <a:lumMod val="75000"/>
                    <a:lumOff val="25000"/>
                  </a:schemeClr>
                </a:solidFill>
                <a:latin typeface="Times New Roman" panose="02020603050405020304" pitchFamily="18" charset="0"/>
                <a:cs typeface="Times New Roman" panose="02020603050405020304" pitchFamily="18" charset="0"/>
              </a:rPr>
            </a:br>
            <a:r>
              <a:rPr lang="en-US" sz="1600" dirty="0">
                <a:solidFill>
                  <a:srgbClr val="002060"/>
                </a:solidFill>
                <a:latin typeface="Times New Roman" panose="02020603050405020304" pitchFamily="18" charset="0"/>
                <a:cs typeface="Times New Roman" panose="02020603050405020304" pitchFamily="18" charset="0"/>
              </a:rPr>
              <a:t> </a:t>
            </a:r>
          </a:p>
        </p:txBody>
      </p:sp>
      <p:cxnSp>
        <p:nvCxnSpPr>
          <p:cNvPr id="462" name="Google Shape;462;p30">
            <a:extLst>
              <a:ext uri="{FF2B5EF4-FFF2-40B4-BE49-F238E27FC236}">
                <a16:creationId xmlns:a16="http://schemas.microsoft.com/office/drawing/2014/main" id="{800EBA1E-A65F-ADF8-BA07-573FF652ABB4}"/>
              </a:ext>
            </a:extLst>
          </p:cNvPr>
          <p:cNvCxnSpPr/>
          <p:nvPr/>
        </p:nvCxnSpPr>
        <p:spPr>
          <a:xfrm flipH="1">
            <a:off x="6157079" y="1388640"/>
            <a:ext cx="22400" cy="5470800"/>
          </a:xfrm>
          <a:prstGeom prst="straightConnector1">
            <a:avLst/>
          </a:prstGeom>
          <a:noFill/>
          <a:ln w="19050" cap="flat" cmpd="sng">
            <a:solidFill>
              <a:schemeClr val="lt1"/>
            </a:solidFill>
            <a:prstDash val="solid"/>
            <a:round/>
            <a:headEnd type="oval" w="med" len="med"/>
            <a:tailEnd type="oval" w="med" len="med"/>
          </a:ln>
        </p:spPr>
      </p:cxnSp>
      <p:cxnSp>
        <p:nvCxnSpPr>
          <p:cNvPr id="463" name="Google Shape;463;p30">
            <a:extLst>
              <a:ext uri="{FF2B5EF4-FFF2-40B4-BE49-F238E27FC236}">
                <a16:creationId xmlns:a16="http://schemas.microsoft.com/office/drawing/2014/main" id="{18D802C8-CD1B-5C7C-1DD4-CBA0CEBE94DA}"/>
              </a:ext>
            </a:extLst>
          </p:cNvPr>
          <p:cNvCxnSpPr/>
          <p:nvPr/>
        </p:nvCxnSpPr>
        <p:spPr>
          <a:xfrm>
            <a:off x="174587" y="3879575"/>
            <a:ext cx="11870800" cy="0"/>
          </a:xfrm>
          <a:prstGeom prst="straightConnector1">
            <a:avLst/>
          </a:prstGeom>
          <a:noFill/>
          <a:ln w="19050" cap="flat" cmpd="sng">
            <a:solidFill>
              <a:schemeClr val="lt1"/>
            </a:solidFill>
            <a:prstDash val="solid"/>
            <a:round/>
            <a:headEnd type="oval" w="med" len="med"/>
            <a:tailEnd type="oval" w="med" len="med"/>
          </a:ln>
        </p:spPr>
      </p:cxnSp>
      <p:sp>
        <p:nvSpPr>
          <p:cNvPr id="464" name="Google Shape;464;p30">
            <a:extLst>
              <a:ext uri="{FF2B5EF4-FFF2-40B4-BE49-F238E27FC236}">
                <a16:creationId xmlns:a16="http://schemas.microsoft.com/office/drawing/2014/main" id="{68390DF6-5864-8E74-34E8-28968F7CBB9F}"/>
              </a:ext>
            </a:extLst>
          </p:cNvPr>
          <p:cNvSpPr/>
          <p:nvPr/>
        </p:nvSpPr>
        <p:spPr>
          <a:xfrm>
            <a:off x="525383" y="1092437"/>
            <a:ext cx="5233200" cy="483200"/>
          </a:xfrm>
          <a:prstGeom prst="rect">
            <a:avLst/>
          </a:prstGeom>
          <a:noFill/>
          <a:ln>
            <a:noFill/>
          </a:ln>
        </p:spPr>
        <p:txBody>
          <a:bodyPr spcFirstLastPara="1" wrap="square" lIns="121900" tIns="60933" rIns="121900" bIns="60933" anchor="ctr" anchorCtr="0">
            <a:noAutofit/>
          </a:bodyPr>
          <a:lstStyle/>
          <a:p>
            <a:pPr algn="ctr">
              <a:buClr>
                <a:srgbClr val="000000"/>
              </a:buClr>
              <a:buSzPts val="1600"/>
            </a:pPr>
            <a:r>
              <a:rPr lang="en" sz="2133" b="1">
                <a:solidFill>
                  <a:schemeClr val="lt1"/>
                </a:solidFill>
                <a:latin typeface="Times New Roman" panose="02020603050405020304" pitchFamily="18" charset="0"/>
                <a:ea typeface="Arial"/>
                <a:cs typeface="Times New Roman" panose="02020603050405020304" pitchFamily="18" charset="0"/>
                <a:sym typeface="Arial"/>
              </a:rPr>
              <a:t>Objective</a:t>
            </a:r>
            <a:endParaRPr sz="1867">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465" name="Google Shape;465;p30">
            <a:extLst>
              <a:ext uri="{FF2B5EF4-FFF2-40B4-BE49-F238E27FC236}">
                <a16:creationId xmlns:a16="http://schemas.microsoft.com/office/drawing/2014/main" id="{784138D6-C730-43B7-90B6-1F0A5A8FD388}"/>
              </a:ext>
            </a:extLst>
          </p:cNvPr>
          <p:cNvSpPr/>
          <p:nvPr/>
        </p:nvSpPr>
        <p:spPr>
          <a:xfrm>
            <a:off x="6187449" y="1192755"/>
            <a:ext cx="5811400" cy="522967"/>
          </a:xfrm>
          <a:prstGeom prst="rect">
            <a:avLst/>
          </a:prstGeom>
          <a:noFill/>
          <a:ln>
            <a:noFill/>
          </a:ln>
        </p:spPr>
        <p:txBody>
          <a:bodyPr spcFirstLastPara="1" wrap="square" lIns="121900" tIns="60933" rIns="121900" bIns="60933" anchor="ctr" anchorCtr="0">
            <a:noAutofit/>
          </a:bodyPr>
          <a:lstStyle/>
          <a:p>
            <a:pPr algn="ctr">
              <a:buSzPts val="1600"/>
            </a:pPr>
            <a:r>
              <a:rPr lang="en" sz="2000" b="1">
                <a:solidFill>
                  <a:schemeClr val="lt1"/>
                </a:solidFill>
                <a:latin typeface="Times New Roman" panose="02020603050405020304" pitchFamily="18" charset="0"/>
                <a:ea typeface="Arial"/>
                <a:cs typeface="Times New Roman" panose="02020603050405020304" pitchFamily="18" charset="0"/>
                <a:sym typeface="Arial"/>
              </a:rPr>
              <a:t>Key Deliverables in </a:t>
            </a:r>
            <a:r>
              <a:rPr lang="en" sz="2000" b="1">
                <a:solidFill>
                  <a:schemeClr val="lt1"/>
                </a:solidFill>
                <a:latin typeface="Times New Roman" panose="02020603050405020304" pitchFamily="18" charset="0"/>
                <a:cs typeface="Times New Roman" panose="02020603050405020304" pitchFamily="18" charset="0"/>
              </a:rPr>
              <a:t>Nov-Dec </a:t>
            </a:r>
            <a:r>
              <a:rPr lang="en" sz="2000" b="1">
                <a:solidFill>
                  <a:schemeClr val="lt1"/>
                </a:solidFill>
                <a:latin typeface="Times New Roman" panose="02020603050405020304" pitchFamily="18" charset="0"/>
                <a:ea typeface="Arial"/>
                <a:cs typeface="Times New Roman" panose="02020603050405020304" pitchFamily="18" charset="0"/>
                <a:sym typeface="Arial"/>
              </a:rPr>
              <a:t>2025</a:t>
            </a:r>
            <a:endParaRPr sz="2000">
              <a:solidFill>
                <a:schemeClr val="lt1"/>
              </a:solidFill>
              <a:latin typeface="Times New Roman" panose="02020603050405020304" pitchFamily="18" charset="0"/>
              <a:ea typeface="Arial"/>
              <a:cs typeface="Times New Roman" panose="02020603050405020304" pitchFamily="18" charset="0"/>
              <a:sym typeface="Arial"/>
            </a:endParaRPr>
          </a:p>
        </p:txBody>
      </p:sp>
      <p:sp>
        <p:nvSpPr>
          <p:cNvPr id="466" name="Google Shape;466;p30">
            <a:extLst>
              <a:ext uri="{FF2B5EF4-FFF2-40B4-BE49-F238E27FC236}">
                <a16:creationId xmlns:a16="http://schemas.microsoft.com/office/drawing/2014/main" id="{2512EC33-A4F9-F4EA-CE5B-F1D782BDD060}"/>
              </a:ext>
            </a:extLst>
          </p:cNvPr>
          <p:cNvSpPr/>
          <p:nvPr/>
        </p:nvSpPr>
        <p:spPr>
          <a:xfrm>
            <a:off x="358776" y="3878704"/>
            <a:ext cx="5558400" cy="483200"/>
          </a:xfrm>
          <a:prstGeom prst="rect">
            <a:avLst/>
          </a:prstGeom>
          <a:noFill/>
          <a:ln>
            <a:noFill/>
          </a:ln>
        </p:spPr>
        <p:txBody>
          <a:bodyPr spcFirstLastPara="1" wrap="square" lIns="121900" tIns="60933" rIns="121900" bIns="60933" anchor="ctr" anchorCtr="0">
            <a:noAutofit/>
          </a:bodyPr>
          <a:lstStyle/>
          <a:p>
            <a:pPr algn="ctr">
              <a:buSzPts val="1600"/>
            </a:pPr>
            <a:r>
              <a:rPr lang="en" sz="2133" b="1">
                <a:solidFill>
                  <a:schemeClr val="lt1"/>
                </a:solidFill>
                <a:latin typeface="Times New Roman" panose="02020603050405020304" pitchFamily="18" charset="0"/>
                <a:ea typeface="Arial"/>
                <a:cs typeface="Times New Roman" panose="02020603050405020304" pitchFamily="18" charset="0"/>
                <a:sym typeface="Arial"/>
              </a:rPr>
              <a:t>Plan for next </a:t>
            </a:r>
            <a:r>
              <a:rPr lang="en" sz="2133" b="1">
                <a:solidFill>
                  <a:schemeClr val="lt1"/>
                </a:solidFill>
                <a:latin typeface="Times New Roman" panose="02020603050405020304" pitchFamily="18" charset="0"/>
                <a:cs typeface="Times New Roman" panose="02020603050405020304" pitchFamily="18" charset="0"/>
              </a:rPr>
              <a:t>2 month</a:t>
            </a:r>
            <a:endParaRPr sz="1867">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469" name="Google Shape;469;p30">
            <a:extLst>
              <a:ext uri="{FF2B5EF4-FFF2-40B4-BE49-F238E27FC236}">
                <a16:creationId xmlns:a16="http://schemas.microsoft.com/office/drawing/2014/main" id="{7EF882C9-A6A0-B548-386A-A2B7BADDE9B8}"/>
              </a:ext>
            </a:extLst>
          </p:cNvPr>
          <p:cNvSpPr txBox="1">
            <a:spLocks noGrp="1"/>
          </p:cNvSpPr>
          <p:nvPr>
            <p:ph type="body" idx="1"/>
          </p:nvPr>
        </p:nvSpPr>
        <p:spPr>
          <a:xfrm>
            <a:off x="543633" y="1994615"/>
            <a:ext cx="5800652" cy="4364640"/>
          </a:xfrm>
          <a:prstGeom prst="rect">
            <a:avLst/>
          </a:prstGeom>
          <a:noFill/>
          <a:ln>
            <a:noFill/>
          </a:ln>
        </p:spPr>
        <p:txBody>
          <a:bodyPr spcFirstLastPara="1" vert="horz" wrap="square" lIns="121900" tIns="60933" rIns="121900" bIns="60933" rtlCol="0" anchor="t" anchorCtr="0">
            <a:noAutofit/>
          </a:bodyPr>
          <a:lstStyle/>
          <a:p>
            <a:pPr marL="16932" indent="0" algn="just">
              <a:buSzPts val="1200"/>
              <a:buNone/>
            </a:pPr>
            <a:r>
              <a:rPr lang="en-US" sz="1400" b="1" dirty="0">
                <a:solidFill>
                  <a:schemeClr val="tx2">
                    <a:lumMod val="75000"/>
                    <a:lumOff val="25000"/>
                  </a:schemeClr>
                </a:solidFill>
                <a:latin typeface="Times New Roman" panose="02020603050405020304" pitchFamily="18" charset="0"/>
                <a:cs typeface="Times New Roman" panose="02020603050405020304" pitchFamily="18" charset="0"/>
              </a:rPr>
              <a:t>Business Value &amp; Game changers</a:t>
            </a:r>
            <a:r>
              <a:rPr lang="en" sz="1400" b="1" dirty="0">
                <a:solidFill>
                  <a:schemeClr val="tx2">
                    <a:lumMod val="75000"/>
                    <a:lumOff val="25000"/>
                  </a:schemeClr>
                </a:solidFill>
                <a:latin typeface="Times New Roman" panose="02020603050405020304" pitchFamily="18" charset="0"/>
                <a:cs typeface="Times New Roman" panose="02020603050405020304" pitchFamily="18" charset="0"/>
              </a:rPr>
              <a:t>: </a:t>
            </a:r>
          </a:p>
          <a:p>
            <a:pPr marL="16932" indent="0" algn="just">
              <a:buSzPts val="1200"/>
              <a:buNone/>
            </a:pPr>
            <a:r>
              <a:rPr lang="en-US" sz="1400" dirty="0">
                <a:latin typeface="Times New Roman" panose="02020603050405020304" pitchFamily="18" charset="0"/>
                <a:cs typeface="Times New Roman" panose="02020603050405020304" pitchFamily="18" charset="0"/>
              </a:rPr>
              <a:t>Highlight how the project delivers value:</a:t>
            </a:r>
          </a:p>
          <a:p>
            <a:pPr marL="302682" indent="-285750" algn="just">
              <a:buSzPts val="120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Reduces manual effort by ~80–90% and accelerates processing time by 3–5X, lowering operational costs and improving efficiency.</a:t>
            </a:r>
          </a:p>
          <a:p>
            <a:pPr marL="302682" indent="-285750" algn="just">
              <a:buSzPts val="120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OCR understanding for context-aware extraction and intelligent data structuring </a:t>
            </a:r>
          </a:p>
          <a:p>
            <a:pPr marL="302682" indent="-285750" algn="just">
              <a:buSzPts val="120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More scalable and adaptable than template-based tools, handling multiple bank formats with higher accuracy </a:t>
            </a:r>
          </a:p>
          <a:p>
            <a:pPr marL="302682" indent="-285750" algn="just">
              <a:buSzPts val="120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Delivers high accuracy, cost efficiency, faster decision-making, secure data handling, and scalable deployment. </a:t>
            </a:r>
          </a:p>
          <a:p>
            <a:pPr marL="16932" indent="0" algn="just">
              <a:buSzPts val="1200"/>
              <a:buNone/>
            </a:pPr>
            <a:r>
              <a:rPr lang="en" sz="1400" b="1" dirty="0">
                <a:solidFill>
                  <a:schemeClr val="tx2">
                    <a:lumMod val="75000"/>
                    <a:lumOff val="25000"/>
                  </a:schemeClr>
                </a:solidFill>
                <a:latin typeface="Times New Roman" panose="02020603050405020304" pitchFamily="18" charset="0"/>
                <a:cs typeface="Times New Roman" panose="02020603050405020304" pitchFamily="18" charset="0"/>
              </a:rPr>
              <a:t> </a:t>
            </a:r>
            <a:endParaRPr lang="en-IN" sz="1400" b="1" dirty="0">
              <a:solidFill>
                <a:schemeClr val="tx2">
                  <a:lumMod val="75000"/>
                  <a:lumOff val="25000"/>
                </a:schemeClr>
              </a:solidFill>
              <a:latin typeface="Times New Roman" panose="02020603050405020304" pitchFamily="18" charset="0"/>
              <a:cs typeface="Times New Roman" panose="02020603050405020304" pitchFamily="18" charset="0"/>
            </a:endParaRPr>
          </a:p>
          <a:p>
            <a:pPr marL="16932" indent="0" algn="just">
              <a:buSzPts val="1200"/>
              <a:buNone/>
            </a:pPr>
            <a:r>
              <a:rPr lang="en-IN" sz="1400" b="1" dirty="0">
                <a:solidFill>
                  <a:schemeClr val="tx2">
                    <a:lumMod val="75000"/>
                    <a:lumOff val="25000"/>
                  </a:schemeClr>
                </a:solidFill>
                <a:latin typeface="Times New Roman" panose="02020603050405020304" pitchFamily="18" charset="0"/>
                <a:cs typeface="Times New Roman" panose="02020603050405020304" pitchFamily="18" charset="0"/>
              </a:rPr>
              <a:t>Key Accomplishments</a:t>
            </a:r>
            <a:r>
              <a:rPr lang="en-US" sz="1400" b="1" dirty="0">
                <a:solidFill>
                  <a:schemeClr val="tx2">
                    <a:lumMod val="75000"/>
                    <a:lumOff val="25000"/>
                  </a:schemeClr>
                </a:solidFill>
                <a:latin typeface="Times New Roman" panose="02020603050405020304" pitchFamily="18" charset="0"/>
                <a:cs typeface="Times New Roman" panose="02020603050405020304" pitchFamily="18" charset="0"/>
              </a:rPr>
              <a:t> | &lt;Month Name&gt; : &lt;May 2026&gt; </a:t>
            </a:r>
          </a:p>
          <a:p>
            <a:pPr marL="16932" indent="0" algn="just">
              <a:buSzPts val="1200"/>
              <a:buNone/>
            </a:pPr>
            <a:r>
              <a:rPr lang="en-US" sz="1400" dirty="0">
                <a:latin typeface="Times New Roman" panose="02020603050405020304" pitchFamily="18" charset="0"/>
                <a:cs typeface="Times New Roman" panose="02020603050405020304" pitchFamily="18" charset="0"/>
              </a:rPr>
              <a:t>Summarize major achievements since the last update:</a:t>
            </a:r>
          </a:p>
          <a:p>
            <a:pPr marL="302682" indent="-285750" algn="just">
              <a:buSzPts val="1200"/>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Studied CIBIL scoring methods &amp; how the models support loan approval &amp; financial decision making</a:t>
            </a:r>
          </a:p>
          <a:p>
            <a:pPr marL="302682" indent="-285750" algn="just">
              <a:buSzPts val="1200"/>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Researched important financial parameters &amp; risk factors for loan eligibility analysis</a:t>
            </a:r>
          </a:p>
          <a:p>
            <a:pPr marL="302682" indent="-285750" algn="just">
              <a:buSzPts val="1200"/>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Designed system architecture for overall workflow &amp; processing pipeline</a:t>
            </a:r>
          </a:p>
          <a:p>
            <a:pPr marL="302682" indent="-285750" algn="just">
              <a:buSzPts val="1200"/>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Tested extraction performance of OCR models on different bank statement PDFs to identify the most reliable and scalable solution</a:t>
            </a:r>
          </a:p>
          <a:p>
            <a:pPr marL="16932" indent="0" algn="just">
              <a:buSzPts val="1200"/>
              <a:buNone/>
            </a:pPr>
            <a:endParaRPr lang="en-US" sz="1400" b="1"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sp>
        <p:nvSpPr>
          <p:cNvPr id="470" name="Google Shape;470;p30">
            <a:extLst>
              <a:ext uri="{FF2B5EF4-FFF2-40B4-BE49-F238E27FC236}">
                <a16:creationId xmlns:a16="http://schemas.microsoft.com/office/drawing/2014/main" id="{AFBD69EA-2E16-9206-B2D5-2F99E066C3CD}"/>
              </a:ext>
            </a:extLst>
          </p:cNvPr>
          <p:cNvSpPr txBox="1"/>
          <p:nvPr/>
        </p:nvSpPr>
        <p:spPr>
          <a:xfrm>
            <a:off x="-127000" y="510008"/>
            <a:ext cx="12192000" cy="492402"/>
          </a:xfrm>
          <a:prstGeom prst="rect">
            <a:avLst/>
          </a:prstGeom>
          <a:noFill/>
          <a:ln>
            <a:noFill/>
          </a:ln>
        </p:spPr>
        <p:txBody>
          <a:bodyPr spcFirstLastPara="1" wrap="square" lIns="121900" tIns="121900" rIns="121900" bIns="121900" anchor="t" anchorCtr="0">
            <a:spAutoFit/>
          </a:bodyPr>
          <a:lstStyle/>
          <a:p>
            <a:pPr algn="ctr">
              <a:buSzPts val="1200"/>
            </a:pPr>
            <a:r>
              <a:rPr lang="en" sz="1600" b="1" dirty="0">
                <a:solidFill>
                  <a:schemeClr val="tx2">
                    <a:lumMod val="75000"/>
                    <a:lumOff val="25000"/>
                  </a:schemeClr>
                </a:solidFill>
                <a:latin typeface="Times New Roman" panose="02020603050405020304" pitchFamily="18" charset="0"/>
                <a:cs typeface="Times New Roman" panose="02020603050405020304" pitchFamily="18" charset="0"/>
              </a:rPr>
              <a:t>Domain: </a:t>
            </a:r>
            <a:r>
              <a:rPr lang="en" sz="1600" b="1" dirty="0">
                <a:latin typeface="Times New Roman" panose="02020603050405020304" pitchFamily="18" charset="0"/>
                <a:cs typeface="Times New Roman" panose="02020603050405020304" pitchFamily="18" charset="0"/>
              </a:rPr>
              <a:t>Insurance/Fintech || </a:t>
            </a:r>
            <a:r>
              <a:rPr lang="en" sz="1600" b="1" dirty="0">
                <a:solidFill>
                  <a:schemeClr val="tx2">
                    <a:lumMod val="75000"/>
                    <a:lumOff val="25000"/>
                  </a:schemeClr>
                </a:solidFill>
                <a:latin typeface="Times New Roman" panose="02020603050405020304" pitchFamily="18" charset="0"/>
                <a:ea typeface="Arial"/>
                <a:cs typeface="Times New Roman" panose="02020603050405020304" pitchFamily="18" charset="0"/>
                <a:sym typeface="Arial"/>
              </a:rPr>
              <a:t>Team: </a:t>
            </a:r>
            <a:r>
              <a:rPr lang="en" sz="1600" b="1" dirty="0">
                <a:latin typeface="Times New Roman" panose="02020603050405020304" pitchFamily="18" charset="0"/>
                <a:cs typeface="Times New Roman" panose="02020603050405020304" pitchFamily="18" charset="0"/>
              </a:rPr>
              <a:t>Om Gawde, Suhani Walanju, Anirudh Sarve</a:t>
            </a:r>
            <a:endParaRPr sz="1600" b="1" dirty="0">
              <a:solidFill>
                <a:srgbClr val="000000"/>
              </a:solidFill>
              <a:latin typeface="Times New Roman" panose="02020603050405020304" pitchFamily="18" charset="0"/>
              <a:ea typeface="Arial"/>
              <a:cs typeface="Times New Roman" panose="02020603050405020304" pitchFamily="18" charset="0"/>
              <a:sym typeface="Arial"/>
            </a:endParaRPr>
          </a:p>
        </p:txBody>
      </p:sp>
      <p:pic>
        <p:nvPicPr>
          <p:cNvPr id="4" name="Picture 3" descr="A red and white target with a yellow arrow&#10;&#10;AI-generated content may be incorrect.">
            <a:extLst>
              <a:ext uri="{FF2B5EF4-FFF2-40B4-BE49-F238E27FC236}">
                <a16:creationId xmlns:a16="http://schemas.microsoft.com/office/drawing/2014/main" id="{C640114F-A4FF-396A-13CD-E1069131D5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73" y="1223388"/>
            <a:ext cx="396000" cy="396000"/>
          </a:xfrm>
          <a:prstGeom prst="rect">
            <a:avLst/>
          </a:prstGeom>
        </p:spPr>
      </p:pic>
      <p:pic>
        <p:nvPicPr>
          <p:cNvPr id="7" name="Picture 6" descr="A group of people with arms up and a star above them&#10;&#10;AI-generated content may be incorrect.">
            <a:extLst>
              <a:ext uri="{FF2B5EF4-FFF2-40B4-BE49-F238E27FC236}">
                <a16:creationId xmlns:a16="http://schemas.microsoft.com/office/drawing/2014/main" id="{1BBEFB57-4909-3441-91BF-9BAF705276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69" y="4373928"/>
            <a:ext cx="396000" cy="396000"/>
          </a:xfrm>
          <a:prstGeom prst="rect">
            <a:avLst/>
          </a:prstGeom>
        </p:spPr>
      </p:pic>
      <p:pic>
        <p:nvPicPr>
          <p:cNvPr id="10" name="Picture 9" descr="A handshake with a tick and a white cloud&#10;&#10;AI-generated content may be incorrect.">
            <a:extLst>
              <a:ext uri="{FF2B5EF4-FFF2-40B4-BE49-F238E27FC236}">
                <a16:creationId xmlns:a16="http://schemas.microsoft.com/office/drawing/2014/main" id="{E8E5579A-A321-4495-6810-C11A2024EF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28988" y="2155510"/>
            <a:ext cx="396000" cy="396000"/>
          </a:xfrm>
          <a:prstGeom prst="rect">
            <a:avLst/>
          </a:prstGeom>
        </p:spPr>
      </p:pic>
      <p:pic>
        <p:nvPicPr>
          <p:cNvPr id="12" name="Picture 11" descr="A person holding a paper plane&#10;&#10;AI-generated content may be incorrect.">
            <a:extLst>
              <a:ext uri="{FF2B5EF4-FFF2-40B4-BE49-F238E27FC236}">
                <a16:creationId xmlns:a16="http://schemas.microsoft.com/office/drawing/2014/main" id="{A65EC53A-2016-FF09-219D-90835E456A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28988" y="3197349"/>
            <a:ext cx="396000" cy="396000"/>
          </a:xfrm>
          <a:prstGeom prst="rect">
            <a:avLst/>
          </a:prstGeom>
        </p:spPr>
      </p:pic>
      <p:sp>
        <p:nvSpPr>
          <p:cNvPr id="2" name="Google Shape;469;p30">
            <a:extLst>
              <a:ext uri="{FF2B5EF4-FFF2-40B4-BE49-F238E27FC236}">
                <a16:creationId xmlns:a16="http://schemas.microsoft.com/office/drawing/2014/main" id="{00DEAA9E-D95E-BB8F-F108-1A8A8FC862B3}"/>
              </a:ext>
            </a:extLst>
          </p:cNvPr>
          <p:cNvSpPr txBox="1">
            <a:spLocks/>
          </p:cNvSpPr>
          <p:nvPr/>
        </p:nvSpPr>
        <p:spPr>
          <a:xfrm>
            <a:off x="7027734" y="2060295"/>
            <a:ext cx="5160240" cy="3129513"/>
          </a:xfrm>
          <a:prstGeom prst="rect">
            <a:avLst/>
          </a:prstGeom>
          <a:noFill/>
          <a:ln>
            <a:noFill/>
          </a:ln>
        </p:spPr>
        <p:txBody>
          <a:bodyPr spcFirstLastPara="1" vert="horz" wrap="square" lIns="121900" tIns="60933" rIns="121900" bIns="60933" rtlCol="0" anchor="t" anchorCtr="0">
            <a:noAutofit/>
          </a:bodyPr>
          <a:lstStyle>
            <a:lvl1pPr marL="609585" marR="0" lvl="0"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1pPr>
            <a:lvl2pPr marL="1219170" marR="0" lvl="1"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2pPr>
            <a:lvl3pPr marL="1828754" marR="0" lvl="2"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3pPr>
            <a:lvl4pPr marL="2438339" marR="0" lvl="3"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4pPr>
            <a:lvl5pPr marL="3047924" marR="0" lvl="4"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5pPr>
            <a:lvl6pPr marL="3657509" marR="0" lvl="5"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6pPr>
            <a:lvl7pPr marL="4267093" marR="0" lvl="6"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7pPr>
            <a:lvl8pPr marL="4876678" marR="0" lvl="7"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8pPr>
            <a:lvl9pPr marL="5486263" marR="0" lvl="8"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9pPr>
          </a:lstStyle>
          <a:p>
            <a:pPr marL="0" indent="0">
              <a:buNone/>
            </a:pPr>
            <a:r>
              <a:rPr lang="en-US" sz="1400" b="1" dirty="0">
                <a:solidFill>
                  <a:schemeClr val="tx2">
                    <a:lumMod val="75000"/>
                    <a:lumOff val="25000"/>
                  </a:schemeClr>
                </a:solidFill>
                <a:latin typeface="Times New Roman" panose="02020603050405020304" pitchFamily="18" charset="0"/>
                <a:cs typeface="Times New Roman" panose="02020603050405020304" pitchFamily="18" charset="0"/>
              </a:rPr>
              <a:t>Planned Deliverables (Next one Months):</a:t>
            </a:r>
          </a:p>
          <a:p>
            <a:pPr marL="285750" indent="-285750">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Complete the OCR based extraction pipeline for bank statements </a:t>
            </a:r>
          </a:p>
          <a:p>
            <a:pPr marL="285750" indent="-285750">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Start development of decision-making engine for the loan approval analysis using extracted financial parameters</a:t>
            </a:r>
          </a:p>
          <a:p>
            <a:pPr marL="0" indent="0">
              <a:buNone/>
            </a:pPr>
            <a:endParaRPr lang="en-IN" sz="1400" dirty="0">
              <a:solidFill>
                <a:schemeClr val="tx2">
                  <a:lumMod val="75000"/>
                  <a:lumOff val="25000"/>
                </a:schemeClr>
              </a:solidFill>
              <a:latin typeface="Times New Roman" panose="02020603050405020304" pitchFamily="18" charset="0"/>
              <a:cs typeface="Times New Roman" panose="02020603050405020304" pitchFamily="18" charset="0"/>
            </a:endParaRPr>
          </a:p>
          <a:p>
            <a:pPr marL="0" indent="0">
              <a:buNone/>
            </a:pPr>
            <a:r>
              <a:rPr lang="en-IN" sz="1400" b="1" dirty="0">
                <a:solidFill>
                  <a:schemeClr val="tx2">
                    <a:lumMod val="75000"/>
                    <a:lumOff val="25000"/>
                  </a:schemeClr>
                </a:solidFill>
                <a:latin typeface="Times New Roman" panose="02020603050405020304" pitchFamily="18" charset="0"/>
                <a:cs typeface="Times New Roman" panose="02020603050405020304" pitchFamily="18" charset="0"/>
              </a:rPr>
              <a:t>Risks &amp; Challenges:</a:t>
            </a:r>
            <a:endParaRPr lang="en-US" sz="1400" b="1" dirty="0">
              <a:solidFill>
                <a:schemeClr val="tx2">
                  <a:lumMod val="75000"/>
                  <a:lumOff val="25000"/>
                </a:schemeClr>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400" dirty="0">
                <a:solidFill>
                  <a:schemeClr val="tx1"/>
                </a:solidFill>
                <a:latin typeface="Times New Roman" panose="02020603050405020304" pitchFamily="18" charset="0"/>
                <a:cs typeface="Times New Roman" panose="02020603050405020304" pitchFamily="18" charset="0"/>
              </a:rPr>
              <a:t>Handling different bank statement PDF formats made extraction challenging and complex</a:t>
            </a:r>
            <a:br>
              <a:rPr lang="en-US" sz="1400" dirty="0">
                <a:latin typeface="Times New Roman" panose="02020603050405020304" pitchFamily="18" charset="0"/>
                <a:cs typeface="Times New Roman" panose="02020603050405020304" pitchFamily="18" charset="0"/>
              </a:rPr>
            </a:br>
            <a:endParaRPr lang="en-IN" sz="1400" b="1" dirty="0">
              <a:solidFill>
                <a:schemeClr val="tx2">
                  <a:lumMod val="75000"/>
                  <a:lumOff val="25000"/>
                </a:schemeClr>
              </a:solidFill>
              <a:latin typeface="Times New Roman" panose="02020603050405020304" pitchFamily="18" charset="0"/>
              <a:cs typeface="Times New Roman" panose="02020603050405020304" pitchFamily="18" charset="0"/>
            </a:endParaRPr>
          </a:p>
          <a:p>
            <a:pPr marL="0" indent="0">
              <a:buNone/>
            </a:pPr>
            <a:r>
              <a:rPr lang="en-IN" sz="1400" b="1" dirty="0">
                <a:solidFill>
                  <a:schemeClr val="tx2">
                    <a:lumMod val="75000"/>
                    <a:lumOff val="25000"/>
                  </a:schemeClr>
                </a:solidFill>
                <a:latin typeface="Times New Roman" panose="02020603050405020304" pitchFamily="18" charset="0"/>
                <a:cs typeface="Times New Roman" panose="02020603050405020304" pitchFamily="18" charset="0"/>
              </a:rPr>
              <a:t>Feedback &amp; improvements</a:t>
            </a:r>
            <a:r>
              <a:rPr lang="en-US" sz="1400" b="1" dirty="0">
                <a:solidFill>
                  <a:schemeClr val="tx2">
                    <a:lumMod val="75000"/>
                    <a:lumOff val="25000"/>
                  </a:schemeClr>
                </a:solidFill>
                <a:latin typeface="Times New Roman" panose="02020603050405020304" pitchFamily="18" charset="0"/>
                <a:cs typeface="Times New Roman" panose="02020603050405020304" pitchFamily="18" charset="0"/>
              </a:rPr>
              <a:t>: </a:t>
            </a:r>
          </a:p>
          <a:p>
            <a:pPr marL="0" indent="0">
              <a:buNone/>
            </a:pPr>
            <a:r>
              <a:rPr lang="en-US" sz="1400" dirty="0">
                <a:latin typeface="Times New Roman" panose="02020603050405020304" pitchFamily="18" charset="0"/>
                <a:cs typeface="Times New Roman" panose="02020603050405020304" pitchFamily="18" charset="0"/>
              </a:rPr>
              <a:t>Capture feedback from stakeholders:</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Improvements are required in extraction runtime and accuracy, as current process is time-intensive and some extracted data lacks precision</a:t>
            </a:r>
          </a:p>
          <a:p>
            <a:pPr marL="0" indent="0">
              <a:buNone/>
            </a:pPr>
            <a:endParaRPr lang="en-US" sz="1400" dirty="0">
              <a:latin typeface="Times New Roman" panose="02020603050405020304" pitchFamily="18" charset="0"/>
              <a:cs typeface="Times New Roman" panose="02020603050405020304" pitchFamily="18" charset="0"/>
            </a:endParaRPr>
          </a:p>
        </p:txBody>
      </p:sp>
      <p:pic>
        <p:nvPicPr>
          <p:cNvPr id="5" name="Picture 4" descr="A clipboard with a graph on it&#10;&#10;AI-generated content may be incorrect.">
            <a:extLst>
              <a:ext uri="{FF2B5EF4-FFF2-40B4-BE49-F238E27FC236}">
                <a16:creationId xmlns:a16="http://schemas.microsoft.com/office/drawing/2014/main" id="{2108D23D-1E8E-7B10-DA5F-EC7F1352F09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2566" y="2087113"/>
            <a:ext cx="396000" cy="396000"/>
          </a:xfrm>
          <a:prstGeom prst="rect">
            <a:avLst/>
          </a:prstGeom>
        </p:spPr>
      </p:pic>
      <p:pic>
        <p:nvPicPr>
          <p:cNvPr id="9" name="Picture 8" descr="A couple of people sitting at a table&#10;&#10;AI-generated content may be incorrect.">
            <a:extLst>
              <a:ext uri="{FF2B5EF4-FFF2-40B4-BE49-F238E27FC236}">
                <a16:creationId xmlns:a16="http://schemas.microsoft.com/office/drawing/2014/main" id="{7EEA42CF-6C90-27E7-7BA1-E4CB6AB1370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628988" y="4040469"/>
            <a:ext cx="396000" cy="396000"/>
          </a:xfrm>
          <a:prstGeom prst="rect">
            <a:avLst/>
          </a:prstGeom>
        </p:spPr>
      </p:pic>
      <p:sp>
        <p:nvSpPr>
          <p:cNvPr id="13" name="TextBox 12">
            <a:extLst>
              <a:ext uri="{FF2B5EF4-FFF2-40B4-BE49-F238E27FC236}">
                <a16:creationId xmlns:a16="http://schemas.microsoft.com/office/drawing/2014/main" id="{FE72EAF0-7DEA-55AF-300B-42B24357F04E}"/>
              </a:ext>
            </a:extLst>
          </p:cNvPr>
          <p:cNvSpPr txBox="1"/>
          <p:nvPr/>
        </p:nvSpPr>
        <p:spPr>
          <a:xfrm>
            <a:off x="539500" y="1163618"/>
            <a:ext cx="11545402" cy="830997"/>
          </a:xfrm>
          <a:prstGeom prst="rect">
            <a:avLst/>
          </a:prstGeom>
          <a:noFill/>
        </p:spPr>
        <p:txBody>
          <a:bodyPr wrap="square">
            <a:spAutoFit/>
          </a:bodyPr>
          <a:lstStyle/>
          <a:p>
            <a:r>
              <a:rPr lang="en" sz="1600" b="1" dirty="0">
                <a:solidFill>
                  <a:schemeClr val="tx2">
                    <a:lumMod val="75000"/>
                    <a:lumOff val="25000"/>
                  </a:schemeClr>
                </a:solidFill>
                <a:latin typeface="Times New Roman" panose="02020603050405020304" pitchFamily="18" charset="0"/>
                <a:cs typeface="Times New Roman" panose="02020603050405020304" pitchFamily="18" charset="0"/>
              </a:rPr>
              <a:t>Milestone Objective: </a:t>
            </a:r>
            <a:r>
              <a:rPr lang="en-US" sz="1600" dirty="0">
                <a:latin typeface="Times New Roman" panose="02020603050405020304" pitchFamily="18" charset="0"/>
                <a:cs typeface="Times New Roman" panose="02020603050405020304" pitchFamily="18" charset="0"/>
              </a:rPr>
              <a:t>This project automates the extraction of structured financial data from diverse and unstructured bank statement formats, eliminating manual effort and reducing errors in data processing. It enables banks and NBFCs to efficiently analyze customer financial behavior and transaction patterns, delivering faster, accurate, and data-driven loan approval decisions.</a:t>
            </a:r>
          </a:p>
        </p:txBody>
      </p:sp>
      <p:cxnSp>
        <p:nvCxnSpPr>
          <p:cNvPr id="16" name="Straight Connector 15">
            <a:extLst>
              <a:ext uri="{FF2B5EF4-FFF2-40B4-BE49-F238E27FC236}">
                <a16:creationId xmlns:a16="http://schemas.microsoft.com/office/drawing/2014/main" id="{60335FAF-9199-847F-9526-4428E73DC662}"/>
              </a:ext>
            </a:extLst>
          </p:cNvPr>
          <p:cNvCxnSpPr/>
          <p:nvPr/>
        </p:nvCxnSpPr>
        <p:spPr>
          <a:xfrm>
            <a:off x="401046" y="1156298"/>
            <a:ext cx="11640073" cy="0"/>
          </a:xfrm>
          <a:prstGeom prst="line">
            <a:avLst/>
          </a:prstGeom>
        </p:spPr>
        <p:style>
          <a:lnRef idx="2">
            <a:schemeClr val="dk1"/>
          </a:lnRef>
          <a:fillRef idx="0">
            <a:schemeClr val="dk1"/>
          </a:fillRef>
          <a:effectRef idx="1">
            <a:schemeClr val="dk1"/>
          </a:effectRef>
          <a:fontRef idx="minor">
            <a:schemeClr val="tx1"/>
          </a:fontRef>
        </p:style>
      </p:cxnSp>
      <p:pic>
        <p:nvPicPr>
          <p:cNvPr id="6" name="Picture 5">
            <a:extLst>
              <a:ext uri="{FF2B5EF4-FFF2-40B4-BE49-F238E27FC236}">
                <a16:creationId xmlns:a16="http://schemas.microsoft.com/office/drawing/2014/main" id="{A19B6521-17C4-FCDF-76A7-A90C6688980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628988" y="6359255"/>
            <a:ext cx="396000" cy="396000"/>
          </a:xfrm>
          <a:prstGeom prst="rect">
            <a:avLst/>
          </a:prstGeom>
        </p:spPr>
      </p:pic>
      <p:pic>
        <p:nvPicPr>
          <p:cNvPr id="17" name="Picture 16">
            <a:extLst>
              <a:ext uri="{FF2B5EF4-FFF2-40B4-BE49-F238E27FC236}">
                <a16:creationId xmlns:a16="http://schemas.microsoft.com/office/drawing/2014/main" id="{7041E045-FE9A-2233-46E5-097BD3A4474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628988" y="5136795"/>
            <a:ext cx="396000" cy="396000"/>
          </a:xfrm>
          <a:prstGeom prst="rect">
            <a:avLst/>
          </a:prstGeom>
        </p:spPr>
      </p:pic>
      <p:sp>
        <p:nvSpPr>
          <p:cNvPr id="18" name="Google Shape;469;p30">
            <a:extLst>
              <a:ext uri="{FF2B5EF4-FFF2-40B4-BE49-F238E27FC236}">
                <a16:creationId xmlns:a16="http://schemas.microsoft.com/office/drawing/2014/main" id="{AC4D0540-6CEF-837A-6E1C-DAFCB3DDAC4E}"/>
              </a:ext>
            </a:extLst>
          </p:cNvPr>
          <p:cNvSpPr txBox="1">
            <a:spLocks/>
          </p:cNvSpPr>
          <p:nvPr/>
        </p:nvSpPr>
        <p:spPr>
          <a:xfrm>
            <a:off x="7024988" y="5900696"/>
            <a:ext cx="4232453" cy="344336"/>
          </a:xfrm>
          <a:prstGeom prst="rect">
            <a:avLst/>
          </a:prstGeom>
          <a:noFill/>
          <a:ln>
            <a:noFill/>
          </a:ln>
        </p:spPr>
        <p:txBody>
          <a:bodyPr spcFirstLastPara="1" vert="horz" wrap="square" lIns="121900" tIns="60933" rIns="121900" bIns="60933" rtlCol="0" anchor="t" anchorCtr="0">
            <a:noAutofit/>
          </a:bodyPr>
          <a:lstStyle>
            <a:lvl1pPr marL="609585" marR="0" lvl="0"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1pPr>
            <a:lvl2pPr marL="1219170" marR="0" lvl="1"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2pPr>
            <a:lvl3pPr marL="1828754" marR="0" lvl="2"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3pPr>
            <a:lvl4pPr marL="2438339" marR="0" lvl="3"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4pPr>
            <a:lvl5pPr marL="3047924" marR="0" lvl="4"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5pPr>
            <a:lvl6pPr marL="3657509" marR="0" lvl="5"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6pPr>
            <a:lvl7pPr marL="4267093" marR="0" lvl="6"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7pPr>
            <a:lvl8pPr marL="4876678" marR="0" lvl="7"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8pPr>
            <a:lvl9pPr marL="5486263" marR="0" lvl="8"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9pPr>
          </a:lstStyle>
          <a:p>
            <a:pPr marL="16932" indent="0" algn="just">
              <a:buSzPts val="1200"/>
              <a:buFont typeface="Arial"/>
              <a:buNone/>
            </a:pPr>
            <a:r>
              <a:rPr lang="en" sz="1400" b="1" dirty="0">
                <a:solidFill>
                  <a:schemeClr val="tx2">
                    <a:lumMod val="75000"/>
                    <a:lumOff val="25000"/>
                  </a:schemeClr>
                </a:solidFill>
                <a:latin typeface="Times New Roman" panose="02020603050405020304" pitchFamily="18" charset="0"/>
                <a:cs typeface="Times New Roman" panose="02020603050405020304" pitchFamily="18" charset="0"/>
              </a:rPr>
              <a:t>Demo Links</a:t>
            </a:r>
            <a:r>
              <a:rPr lang="en" sz="1400" dirty="0">
                <a:latin typeface="Times New Roman" panose="02020603050405020304" pitchFamily="18" charset="0"/>
                <a:cs typeface="Times New Roman" panose="02020603050405020304" pitchFamily="18" charset="0"/>
              </a:rPr>
              <a:t>:</a:t>
            </a:r>
          </a:p>
          <a:p>
            <a:pPr marL="16932" indent="0" algn="just">
              <a:buSzPts val="1200"/>
              <a:buFont typeface="Arial"/>
              <a:buNone/>
            </a:pPr>
            <a:endParaRPr lang="en" sz="1400" dirty="0">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CF8F0F48-080E-6FF2-7C4E-62F12863F54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628988" y="5856979"/>
            <a:ext cx="396000" cy="396000"/>
          </a:xfrm>
          <a:prstGeom prst="rect">
            <a:avLst/>
          </a:prstGeom>
        </p:spPr>
      </p:pic>
      <p:sp>
        <p:nvSpPr>
          <p:cNvPr id="23" name="Google Shape;469;p30">
            <a:extLst>
              <a:ext uri="{FF2B5EF4-FFF2-40B4-BE49-F238E27FC236}">
                <a16:creationId xmlns:a16="http://schemas.microsoft.com/office/drawing/2014/main" id="{908F4453-E74C-A295-D839-5BD8DC5C231D}"/>
              </a:ext>
            </a:extLst>
          </p:cNvPr>
          <p:cNvSpPr txBox="1">
            <a:spLocks/>
          </p:cNvSpPr>
          <p:nvPr/>
        </p:nvSpPr>
        <p:spPr>
          <a:xfrm>
            <a:off x="7024988" y="5136795"/>
            <a:ext cx="4886130" cy="743547"/>
          </a:xfrm>
          <a:prstGeom prst="rect">
            <a:avLst/>
          </a:prstGeom>
          <a:noFill/>
          <a:ln>
            <a:noFill/>
          </a:ln>
        </p:spPr>
        <p:txBody>
          <a:bodyPr spcFirstLastPara="1" vert="horz" wrap="square" lIns="121900" tIns="60933" rIns="121900" bIns="60933" rtlCol="0" anchor="t" anchorCtr="0">
            <a:noAutofit/>
          </a:bodyPr>
          <a:lstStyle>
            <a:lvl1pPr marL="609585" marR="0" lvl="0"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1pPr>
            <a:lvl2pPr marL="1219170" marR="0" lvl="1"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2pPr>
            <a:lvl3pPr marL="1828754" marR="0" lvl="2"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3pPr>
            <a:lvl4pPr marL="2438339" marR="0" lvl="3"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4pPr>
            <a:lvl5pPr marL="3047924" marR="0" lvl="4"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5pPr>
            <a:lvl6pPr marL="3657509" marR="0" lvl="5"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6pPr>
            <a:lvl7pPr marL="4267093" marR="0" lvl="6"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7pPr>
            <a:lvl8pPr marL="4876678" marR="0" lvl="7"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8pPr>
            <a:lvl9pPr marL="5486263" marR="0" lvl="8"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9pPr>
          </a:lstStyle>
          <a:p>
            <a:pPr marL="16932" indent="0" algn="just">
              <a:buSzPts val="1200"/>
              <a:buNone/>
            </a:pPr>
            <a:r>
              <a:rPr lang="en" sz="1400" b="1" dirty="0">
                <a:solidFill>
                  <a:schemeClr val="tx2">
                    <a:lumMod val="75000"/>
                    <a:lumOff val="25000"/>
                  </a:schemeClr>
                </a:solidFill>
                <a:latin typeface="Times New Roman" panose="02020603050405020304" pitchFamily="18" charset="0"/>
                <a:cs typeface="Times New Roman" panose="02020603050405020304" pitchFamily="18" charset="0"/>
              </a:rPr>
              <a:t>Github Links</a:t>
            </a:r>
            <a:r>
              <a:rPr lang="en" sz="1400"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hlinkClick r:id="rId12"/>
              </a:rPr>
              <a:t>https://github.com/OmGawde/Intelligent-Bank-Statement-Processing-Framework-for-Explainable-FinancialInsights-and-CreditDecision</a:t>
            </a:r>
            <a:br>
              <a:rPr lang="en-US" sz="1400" dirty="0">
                <a:latin typeface="Times New Roman" panose="02020603050405020304" pitchFamily="18" charset="0"/>
                <a:cs typeface="Times New Roman" panose="02020603050405020304" pitchFamily="18" charset="0"/>
              </a:rPr>
            </a:br>
            <a:endParaRPr lang="en" sz="1400" dirty="0">
              <a:latin typeface="Times New Roman" panose="02020603050405020304" pitchFamily="18" charset="0"/>
              <a:cs typeface="Times New Roman" panose="02020603050405020304" pitchFamily="18" charset="0"/>
            </a:endParaRPr>
          </a:p>
          <a:p>
            <a:pPr marL="16932" indent="0" algn="just">
              <a:buSzPts val="1200"/>
              <a:buFont typeface="Arial"/>
              <a:buNone/>
            </a:pPr>
            <a:endParaRPr lang="en" sz="1400" dirty="0">
              <a:latin typeface="Times New Roman" panose="02020603050405020304" pitchFamily="18" charset="0"/>
              <a:cs typeface="Times New Roman" panose="02020603050405020304" pitchFamily="18" charset="0"/>
            </a:endParaRPr>
          </a:p>
          <a:p>
            <a:pPr marL="16932" indent="0" algn="just">
              <a:buSzPts val="1200"/>
              <a:buFont typeface="Arial"/>
              <a:buNone/>
            </a:pPr>
            <a:endParaRPr lang="en" sz="14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85C87985-5B1D-5414-8917-B79D330C074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29383" y="6295424"/>
            <a:ext cx="396000" cy="390825"/>
          </a:xfrm>
          <a:prstGeom prst="rect">
            <a:avLst/>
          </a:prstGeom>
        </p:spPr>
      </p:pic>
      <p:cxnSp>
        <p:nvCxnSpPr>
          <p:cNvPr id="27" name="Straight Connector 26">
            <a:extLst>
              <a:ext uri="{FF2B5EF4-FFF2-40B4-BE49-F238E27FC236}">
                <a16:creationId xmlns:a16="http://schemas.microsoft.com/office/drawing/2014/main" id="{B3AA8289-10B5-4CE7-3ABD-ECAB55EA85FF}"/>
              </a:ext>
            </a:extLst>
          </p:cNvPr>
          <p:cNvCxnSpPr/>
          <p:nvPr/>
        </p:nvCxnSpPr>
        <p:spPr>
          <a:xfrm>
            <a:off x="401046" y="1994615"/>
            <a:ext cx="11640073" cy="0"/>
          </a:xfrm>
          <a:prstGeom prst="line">
            <a:avLst/>
          </a:prstGeom>
        </p:spPr>
        <p:style>
          <a:lnRef idx="2">
            <a:schemeClr val="dk1"/>
          </a:lnRef>
          <a:fillRef idx="0">
            <a:schemeClr val="dk1"/>
          </a:fillRef>
          <a:effectRef idx="1">
            <a:schemeClr val="dk1"/>
          </a:effectRef>
          <a:fontRef idx="minor">
            <a:schemeClr val="tx1"/>
          </a:fontRef>
        </p:style>
      </p:cxnSp>
      <p:sp>
        <p:nvSpPr>
          <p:cNvPr id="28" name="Oval 27">
            <a:extLst>
              <a:ext uri="{FF2B5EF4-FFF2-40B4-BE49-F238E27FC236}">
                <a16:creationId xmlns:a16="http://schemas.microsoft.com/office/drawing/2014/main" id="{01CD970F-ED1B-BA7A-BE16-63EE48F0F8E1}"/>
              </a:ext>
            </a:extLst>
          </p:cNvPr>
          <p:cNvSpPr/>
          <p:nvPr/>
        </p:nvSpPr>
        <p:spPr>
          <a:xfrm>
            <a:off x="10907145" y="871563"/>
            <a:ext cx="252901" cy="239695"/>
          </a:xfrm>
          <a:prstGeom prst="ellips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lumMod val="65000"/>
                  <a:lumOff val="35000"/>
                </a:schemeClr>
              </a:solidFill>
            </a:endParaRPr>
          </a:p>
        </p:txBody>
      </p:sp>
      <p:sp>
        <p:nvSpPr>
          <p:cNvPr id="14" name="TextBox 13">
            <a:extLst>
              <a:ext uri="{FF2B5EF4-FFF2-40B4-BE49-F238E27FC236}">
                <a16:creationId xmlns:a16="http://schemas.microsoft.com/office/drawing/2014/main" id="{A694BBF5-8783-FDD9-6CD4-401938AE5373}"/>
              </a:ext>
            </a:extLst>
          </p:cNvPr>
          <p:cNvSpPr txBox="1"/>
          <p:nvPr/>
        </p:nvSpPr>
        <p:spPr>
          <a:xfrm>
            <a:off x="7024988" y="6378472"/>
            <a:ext cx="4098053" cy="307777"/>
          </a:xfrm>
          <a:prstGeom prst="rect">
            <a:avLst/>
          </a:prstGeom>
          <a:noFill/>
        </p:spPr>
        <p:txBody>
          <a:bodyPr wrap="square">
            <a:spAutoFit/>
          </a:bodyPr>
          <a:lstStyle/>
          <a:p>
            <a:pPr marL="16932" indent="0" algn="just">
              <a:buSzPts val="1200"/>
              <a:buNone/>
            </a:pPr>
            <a:r>
              <a:rPr lang="en-IN" sz="1400" b="1" dirty="0">
                <a:solidFill>
                  <a:schemeClr val="tx2">
                    <a:lumMod val="75000"/>
                    <a:lumOff val="25000"/>
                  </a:schemeClr>
                </a:solidFill>
                <a:latin typeface="Times New Roman" panose="02020603050405020304" pitchFamily="18" charset="0"/>
                <a:cs typeface="Times New Roman" panose="02020603050405020304" pitchFamily="18" charset="0"/>
              </a:rPr>
              <a:t>Reusable Assets/Solutions/Opportunities: </a:t>
            </a:r>
            <a:r>
              <a:rPr lang="en-IN" sz="1400" dirty="0">
                <a:latin typeface="Times New Roman" panose="02020603050405020304" pitchFamily="18" charset="0"/>
                <a:cs typeface="Times New Roman" panose="02020603050405020304" pitchFamily="18" charset="0"/>
              </a:rPr>
              <a:t>Yes</a:t>
            </a:r>
          </a:p>
        </p:txBody>
      </p:sp>
      <p:sp>
        <p:nvSpPr>
          <p:cNvPr id="19" name="TextBox 18">
            <a:extLst>
              <a:ext uri="{FF2B5EF4-FFF2-40B4-BE49-F238E27FC236}">
                <a16:creationId xmlns:a16="http://schemas.microsoft.com/office/drawing/2014/main" id="{A7FEBD2D-0CCC-6089-4FCF-F123AAF2C41D}"/>
              </a:ext>
            </a:extLst>
          </p:cNvPr>
          <p:cNvSpPr txBox="1"/>
          <p:nvPr/>
        </p:nvSpPr>
        <p:spPr>
          <a:xfrm>
            <a:off x="568566" y="6363931"/>
            <a:ext cx="6675120" cy="307777"/>
          </a:xfrm>
          <a:prstGeom prst="rect">
            <a:avLst/>
          </a:prstGeom>
          <a:noFill/>
        </p:spPr>
        <p:txBody>
          <a:bodyPr wrap="square">
            <a:spAutoFit/>
          </a:bodyPr>
          <a:lstStyle/>
          <a:p>
            <a:pPr marL="16932" indent="0" algn="just">
              <a:buSzPts val="1200"/>
              <a:buNone/>
            </a:pPr>
            <a:r>
              <a:rPr lang="en-US" sz="1400" b="1" dirty="0">
                <a:solidFill>
                  <a:schemeClr val="tx2">
                    <a:lumMod val="75000"/>
                    <a:lumOff val="25000"/>
                  </a:schemeClr>
                </a:solidFill>
                <a:latin typeface="Times New Roman" panose="02020603050405020304" pitchFamily="18" charset="0"/>
                <a:cs typeface="Times New Roman" panose="02020603050405020304" pitchFamily="18" charset="0"/>
              </a:rPr>
              <a:t>Upcoming Milestone: </a:t>
            </a:r>
            <a:r>
              <a:rPr lang="en-US" sz="1400" dirty="0">
                <a:latin typeface="Times New Roman" panose="02020603050405020304" pitchFamily="18" charset="0"/>
                <a:cs typeface="Times New Roman" panose="02020603050405020304" pitchFamily="18" charset="0"/>
              </a:rPr>
              <a:t> OCR Extraction and Decision-making engine.</a:t>
            </a:r>
            <a:endParaRPr lang="en-US" sz="1400" b="1"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75100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323</TotalTime>
  <Words>391</Words>
  <Application>Microsoft Office PowerPoint</Application>
  <PresentationFormat>Widescreen</PresentationFormat>
  <Paragraphs>33</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Montserrat</vt:lpstr>
      <vt:lpstr>Times New Roman</vt:lpstr>
      <vt:lpstr>Wingdings</vt:lpstr>
      <vt:lpstr>Office Theme</vt:lpstr>
      <vt:lpstr>   PROJECT Name  : Intelligent Bank Statement Processing Framework for  Explainable Financial Insights and Credit Decisioning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Seshan</dc:creator>
  <cp:lastModifiedBy>Suhani walanju</cp:lastModifiedBy>
  <cp:revision>12</cp:revision>
  <dcterms:created xsi:type="dcterms:W3CDTF">2026-01-12T08:43:54Z</dcterms:created>
  <dcterms:modified xsi:type="dcterms:W3CDTF">2026-05-25T07:17:29Z</dcterms:modified>
</cp:coreProperties>
</file>